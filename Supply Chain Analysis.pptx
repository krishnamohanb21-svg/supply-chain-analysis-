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64" r:id="rId6"/>
    <p:sldId id="282" r:id="rId7"/>
    <p:sldId id="284" r:id="rId8"/>
    <p:sldId id="283"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62"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24" r:id="rId44"/>
    <p:sldId id="325" r:id="rId45"/>
    <p:sldId id="320" r:id="rId46"/>
    <p:sldId id="321" r:id="rId47"/>
    <p:sldId id="322" r:id="rId48"/>
    <p:sldId id="323" r:id="rId49"/>
    <p:sldId id="326" r:id="rId50"/>
    <p:sldId id="327" r:id="rId51"/>
    <p:sldId id="328" r:id="rId52"/>
    <p:sldId id="329" r:id="rId53"/>
    <p:sldId id="277" r:id="rId54"/>
    <p:sldId id="278" r:id="rId55"/>
    <p:sldId id="279"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1895455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1423868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1286193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31DDDD-CE64-4B11-9B31-D28FB5EF32AC}"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98219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31DDDD-CE64-4B11-9B31-D28FB5EF32AC}" type="datetimeFigureOut">
              <a:rPr lang="en-IN" smtClean="0"/>
              <a:t>08-09-2026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1005043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1189704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366078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2758291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31DDDD-CE64-4B11-9B31-D28FB5EF32AC}"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608978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31DDDD-CE64-4B11-9B31-D28FB5EF32AC}"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4245787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4002343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29852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1979954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1281826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1195764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2128410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1DDDD-CE64-4B11-9B31-D28FB5EF32AC}"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5D14C-7E05-4DB4-AE7C-659F416793F7}" type="slidenum">
              <a:rPr lang="en-IN" smtClean="0"/>
              <a:t>‹#›</a:t>
            </a:fld>
            <a:endParaRPr lang="en-IN"/>
          </a:p>
        </p:txBody>
      </p:sp>
    </p:spTree>
    <p:extLst>
      <p:ext uri="{BB962C8B-B14F-4D97-AF65-F5344CB8AC3E}">
        <p14:creationId xmlns:p14="http://schemas.microsoft.com/office/powerpoint/2010/main" val="796791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931DDDD-CE64-4B11-9B31-D28FB5EF32AC}" type="datetimeFigureOut">
              <a:rPr lang="en-IN" smtClean="0"/>
              <a:t>08-09-2026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465D14C-7E05-4DB4-AE7C-659F416793F7}" type="slidenum">
              <a:rPr lang="en-IN" smtClean="0"/>
              <a:t>‹#›</a:t>
            </a:fld>
            <a:endParaRPr lang="en-IN"/>
          </a:p>
        </p:txBody>
      </p:sp>
    </p:spTree>
    <p:extLst>
      <p:ext uri="{BB962C8B-B14F-4D97-AF65-F5344CB8AC3E}">
        <p14:creationId xmlns:p14="http://schemas.microsoft.com/office/powerpoint/2010/main" val="337359148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A87BC-1E51-6729-5E15-AA48F785FF31}"/>
              </a:ext>
            </a:extLst>
          </p:cNvPr>
          <p:cNvSpPr>
            <a:spLocks noGrp="1"/>
          </p:cNvSpPr>
          <p:nvPr>
            <p:ph type="ctrTitle"/>
          </p:nvPr>
        </p:nvSpPr>
        <p:spPr>
          <a:xfrm>
            <a:off x="1524000" y="2556387"/>
            <a:ext cx="9144000" cy="953576"/>
          </a:xfrm>
        </p:spPr>
        <p:txBody>
          <a:bodyPr>
            <a:normAutofit/>
          </a:bodyPr>
          <a:lstStyle/>
          <a:p>
            <a:pPr algn="ctr"/>
            <a:r>
              <a:rPr lang="en-IN" sz="3000" dirty="0">
                <a:latin typeface="Times New Roman" panose="02020603050405020304" pitchFamily="18" charset="0"/>
                <a:cs typeface="Times New Roman" panose="02020603050405020304" pitchFamily="18" charset="0"/>
              </a:rPr>
              <a:t>Supply Chain Analysis</a:t>
            </a:r>
          </a:p>
        </p:txBody>
      </p:sp>
      <p:sp>
        <p:nvSpPr>
          <p:cNvPr id="3" name="Subtitle 2">
            <a:extLst>
              <a:ext uri="{FF2B5EF4-FFF2-40B4-BE49-F238E27FC236}">
                <a16:creationId xmlns:a16="http://schemas.microsoft.com/office/drawing/2014/main" id="{D0CC60DC-4BF3-4354-8A6C-5A254C1C59C7}"/>
              </a:ext>
            </a:extLst>
          </p:cNvPr>
          <p:cNvSpPr>
            <a:spLocks noGrp="1"/>
          </p:cNvSpPr>
          <p:nvPr>
            <p:ph type="subTitle" idx="1"/>
          </p:nvPr>
        </p:nvSpPr>
        <p:spPr>
          <a:xfrm>
            <a:off x="2094271" y="3982065"/>
            <a:ext cx="7886342" cy="1656735"/>
          </a:xfrm>
        </p:spPr>
        <p:txBody>
          <a:bodyPr>
            <a:normAutofit/>
          </a:bodyPr>
          <a:lstStyle/>
          <a:p>
            <a:r>
              <a:rPr lang="en-IN" cap="none" dirty="0"/>
              <a:t>                                         </a:t>
            </a:r>
            <a:r>
              <a:rPr lang="en-IN" cap="none" dirty="0">
                <a:latin typeface="Times New Roman" panose="02020603050405020304" pitchFamily="18" charset="0"/>
                <a:cs typeface="Times New Roman" panose="02020603050405020304" pitchFamily="18" charset="0"/>
              </a:rPr>
              <a:t>Name :   Krishna Mohan B</a:t>
            </a:r>
          </a:p>
          <a:p>
            <a:pPr algn="ctr"/>
            <a:r>
              <a:rPr lang="en-IN" cap="none" dirty="0">
                <a:latin typeface="Times New Roman" panose="02020603050405020304" pitchFamily="18" charset="0"/>
                <a:cs typeface="Times New Roman" panose="02020603050405020304" pitchFamily="18" charset="0"/>
              </a:rPr>
              <a:t>                               Student ID: </a:t>
            </a:r>
            <a:r>
              <a:rPr lang="en-IN" dirty="0">
                <a:latin typeface="Times New Roman" panose="02020603050405020304" pitchFamily="18" charset="0"/>
                <a:cs typeface="Times New Roman" panose="02020603050405020304" pitchFamily="18" charset="0"/>
              </a:rPr>
              <a:t>STU67c74640ed4b11741112896</a:t>
            </a:r>
          </a:p>
          <a:p>
            <a:r>
              <a:rPr lang="en-IN"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College Name: Amity University Online (Passed Out)</a:t>
            </a:r>
          </a:p>
          <a:p>
            <a:endParaRPr lang="en-IN" dirty="0"/>
          </a:p>
        </p:txBody>
      </p:sp>
    </p:spTree>
    <p:extLst>
      <p:ext uri="{BB962C8B-B14F-4D97-AF65-F5344CB8AC3E}">
        <p14:creationId xmlns:p14="http://schemas.microsoft.com/office/powerpoint/2010/main" val="3008448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11167-CDBA-3A5C-1DAD-8311A2631216}"/>
              </a:ext>
            </a:extLst>
          </p:cNvPr>
          <p:cNvSpPr>
            <a:spLocks noGrp="1"/>
          </p:cNvSpPr>
          <p:nvPr>
            <p:ph type="title"/>
          </p:nvPr>
        </p:nvSpPr>
        <p:spPr>
          <a:xfrm>
            <a:off x="646111" y="934064"/>
            <a:ext cx="9404723" cy="919183"/>
          </a:xfrm>
        </p:spPr>
        <p:txBody>
          <a:bodyPr>
            <a:normAutofit/>
          </a:bodyPr>
          <a:lstStyle/>
          <a:p>
            <a:pPr algn="ctr"/>
            <a:r>
              <a:rPr lang="en-IN" sz="3000" dirty="0">
                <a:latin typeface="Times New Roman" panose="02020603050405020304" pitchFamily="18" charset="0"/>
                <a:cs typeface="Times New Roman" panose="02020603050405020304" pitchFamily="18" charset="0"/>
              </a:rPr>
              <a:t>Problem Statement of Supply Chain Analysis</a:t>
            </a:r>
          </a:p>
        </p:txBody>
      </p:sp>
      <p:sp>
        <p:nvSpPr>
          <p:cNvPr id="3" name="Content Placeholder 2">
            <a:extLst>
              <a:ext uri="{FF2B5EF4-FFF2-40B4-BE49-F238E27FC236}">
                <a16:creationId xmlns:a16="http://schemas.microsoft.com/office/drawing/2014/main" id="{7A1E4822-2028-29B4-BABE-FFDA37C9BF06}"/>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Organizations possess an enormous amount of operational data on their modern supply chains, including all of their procurement, manufacturing, inventory, and shipping information, but their data is dispersed and fragmented. Because their data is separate, it results in inventory stockouts and surpluses, unreliably estimated demand, unnecessary shipping and manufacturing expenses, postponed lead times, and unmanaged supply chain risk. To alleviate and avoid these obstacles, organizations must apply an all-in-one analytical perspective, as it eliminates supply chain bottlenecks, decreases company costs, and scales for high-quality products.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26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71C06-6D00-9834-E66D-19D777FD3B0B}"/>
              </a:ext>
            </a:extLst>
          </p:cNvPr>
          <p:cNvSpPr>
            <a:spLocks noGrp="1"/>
          </p:cNvSpPr>
          <p:nvPr>
            <p:ph type="title"/>
          </p:nvPr>
        </p:nvSpPr>
        <p:spPr>
          <a:xfrm>
            <a:off x="646111" y="934064"/>
            <a:ext cx="9404723" cy="919183"/>
          </a:xfrm>
        </p:spPr>
        <p:txBody>
          <a:bodyPr>
            <a:normAutofit/>
          </a:bodyPr>
          <a:lstStyle/>
          <a:p>
            <a:pPr algn="ctr"/>
            <a:r>
              <a:rPr lang="en-IN" sz="3000" dirty="0">
                <a:latin typeface="Times New Roman" panose="02020603050405020304" pitchFamily="18" charset="0"/>
                <a:cs typeface="Times New Roman" panose="02020603050405020304" pitchFamily="18" charset="0"/>
              </a:rPr>
              <a:t>Project Description of Supply Chain Analysis</a:t>
            </a:r>
          </a:p>
        </p:txBody>
      </p:sp>
      <p:sp>
        <p:nvSpPr>
          <p:cNvPr id="3" name="Content Placeholder 2">
            <a:extLst>
              <a:ext uri="{FF2B5EF4-FFF2-40B4-BE49-F238E27FC236}">
                <a16:creationId xmlns:a16="http://schemas.microsoft.com/office/drawing/2014/main" id="{3B81C2A3-8328-1ECE-A26F-2A4C7AAB15DE}"/>
              </a:ext>
            </a:extLst>
          </p:cNvPr>
          <p:cNvSpPr>
            <a:spLocks noGrp="1"/>
          </p:cNvSpPr>
          <p:nvPr>
            <p:ph idx="1"/>
          </p:nvPr>
        </p:nvSpPr>
        <p:spPr/>
        <p:txBody>
          <a:bodyPr>
            <a:normAutofit fontScale="77500" lnSpcReduction="20000"/>
          </a:bodyPr>
          <a:lstStyle/>
          <a:p>
            <a:pPr marL="0" indent="0">
              <a:buNone/>
            </a:pPr>
            <a:r>
              <a:rPr lang="en-IN" sz="2200" dirty="0">
                <a:latin typeface="Times New Roman" panose="02020603050405020304" pitchFamily="18" charset="0"/>
                <a:cs typeface="Times New Roman" panose="02020603050405020304" pitchFamily="18" charset="0"/>
              </a:rPr>
              <a:t>End to End Supply Chain Data Analytics &amp; Optimization Platform Ingestion, process and visualize key operational metrics from raw procurement up until last mile delivery. Use machine learning models, exploratory data analysis and interactive dashboard to find cost components, predict inventory outs, score vendors, optimizing routes and more. We are turning row operational values to actionable insights to improve your day-to-day, increase efficiencies and lower costs.</a:t>
            </a:r>
          </a:p>
          <a:p>
            <a:pPr marL="0" indent="0">
              <a:buNone/>
            </a:pPr>
            <a:r>
              <a:rPr lang="en-IN" sz="2200" dirty="0">
                <a:latin typeface="Times New Roman" panose="02020603050405020304" pitchFamily="18" charset="0"/>
                <a:cs typeface="Times New Roman" panose="02020603050405020304" pitchFamily="18" charset="0"/>
              </a:rPr>
              <a:t>Dataset Description</a:t>
            </a:r>
          </a:p>
          <a:p>
            <a:pPr marL="0" indent="0">
              <a:buNone/>
            </a:pPr>
            <a:r>
              <a:rPr lang="en-IN" sz="2200" dirty="0">
                <a:latin typeface="Times New Roman" panose="02020603050405020304" pitchFamily="18" charset="0"/>
                <a:cs typeface="Times New Roman" panose="02020603050405020304" pitchFamily="18" charset="0"/>
              </a:rPr>
              <a:t>The dataset encompasses key metrics covering four critical dimensions of the supply chain lifecycle:</a:t>
            </a:r>
          </a:p>
          <a:p>
            <a:pPr lvl="0"/>
            <a:r>
              <a:rPr lang="en-IN" sz="2200" b="1" u="sng" dirty="0">
                <a:latin typeface="Times New Roman" panose="02020603050405020304" pitchFamily="18" charset="0"/>
                <a:cs typeface="Times New Roman" panose="02020603050405020304" pitchFamily="18" charset="0"/>
              </a:rPr>
              <a:t>Product &amp; Commercial Metrics</a:t>
            </a:r>
            <a:r>
              <a:rPr lang="en-IN" sz="2200" b="1" dirty="0"/>
              <a:t>:</a:t>
            </a:r>
            <a:r>
              <a:rPr lang="en-IN" sz="2200" dirty="0"/>
              <a:t> Product type, SKU, Price, Availability, Number of products sold, Revenue generated, Customer demographics.</a:t>
            </a:r>
          </a:p>
          <a:p>
            <a:pPr lvl="0"/>
            <a:r>
              <a:rPr lang="en-IN" sz="2200" b="1" u="sng" dirty="0">
                <a:latin typeface="Times New Roman" panose="02020603050405020304" pitchFamily="18" charset="0"/>
                <a:cs typeface="Times New Roman" panose="02020603050405020304" pitchFamily="18" charset="0"/>
              </a:rPr>
              <a:t>Inventory &amp; Order Logistics</a:t>
            </a:r>
            <a:r>
              <a:rPr lang="en-IN" sz="2200" b="1" dirty="0"/>
              <a:t>:</a:t>
            </a:r>
            <a:r>
              <a:rPr lang="en-IN" sz="2200" dirty="0"/>
              <a:t> Stock levels, Lead times, Order quantities, Shipping times, Shipping carriers, Shipping costs.</a:t>
            </a:r>
          </a:p>
          <a:p>
            <a:pPr lvl="0"/>
            <a:r>
              <a:rPr lang="en-IN" sz="2200" b="1" u="sng" dirty="0">
                <a:latin typeface="Times New Roman" panose="02020603050405020304" pitchFamily="18" charset="0"/>
                <a:cs typeface="Times New Roman" panose="02020603050405020304" pitchFamily="18" charset="0"/>
              </a:rPr>
              <a:t>Supplier &amp; Manufacturing Data</a:t>
            </a:r>
            <a:r>
              <a:rPr lang="en-IN" sz="2200" b="1" dirty="0"/>
              <a:t>:</a:t>
            </a:r>
            <a:r>
              <a:rPr lang="en-IN" sz="2200" dirty="0"/>
              <a:t> Supplier name, Location, Lead time (supplier), Production volumes, Manufacturing lead time, Manufacturing costs.</a:t>
            </a:r>
          </a:p>
          <a:p>
            <a:pPr lvl="0"/>
            <a:r>
              <a:rPr lang="en-IN" sz="2200" b="1" u="sng" dirty="0">
                <a:latin typeface="Times New Roman" panose="02020603050405020304" pitchFamily="18" charset="0"/>
                <a:cs typeface="Times New Roman" panose="02020603050405020304" pitchFamily="18" charset="0"/>
              </a:rPr>
              <a:t>Quality &amp; Logistics Management</a:t>
            </a:r>
            <a:r>
              <a:rPr lang="en-IN" sz="2200" b="1" dirty="0"/>
              <a:t>:</a:t>
            </a:r>
            <a:r>
              <a:rPr lang="en-IN" sz="2200" dirty="0"/>
              <a:t> Inspection results, Defect rates, Transportation modes, Routes, Costs.</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940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94AB1-E059-1FFE-5466-2090143DE544}"/>
              </a:ext>
            </a:extLst>
          </p:cNvPr>
          <p:cNvSpPr>
            <a:spLocks noGrp="1"/>
          </p:cNvSpPr>
          <p:nvPr>
            <p:ph type="title"/>
          </p:nvPr>
        </p:nvSpPr>
        <p:spPr/>
        <p:txBody>
          <a:bodyPr>
            <a:normAutofit/>
          </a:bodyPr>
          <a:lstStyle/>
          <a:p>
            <a:pPr algn="ctr"/>
            <a:r>
              <a:rPr lang="en-IN" sz="3000" dirty="0">
                <a:latin typeface="Times New Roman" panose="02020603050405020304" pitchFamily="18" charset="0"/>
                <a:cs typeface="Times New Roman" panose="02020603050405020304" pitchFamily="18" charset="0"/>
              </a:rPr>
              <a:t>End users of this Project</a:t>
            </a:r>
          </a:p>
        </p:txBody>
      </p:sp>
      <p:sp>
        <p:nvSpPr>
          <p:cNvPr id="3" name="Content Placeholder 2">
            <a:extLst>
              <a:ext uri="{FF2B5EF4-FFF2-40B4-BE49-F238E27FC236}">
                <a16:creationId xmlns:a16="http://schemas.microsoft.com/office/drawing/2014/main" id="{EE48F7F8-0366-89E9-3712-B9BA4F0E79EE}"/>
              </a:ext>
            </a:extLst>
          </p:cNvPr>
          <p:cNvSpPr>
            <a:spLocks noGrp="1"/>
          </p:cNvSpPr>
          <p:nvPr>
            <p:ph idx="1"/>
          </p:nvPr>
        </p:nvSpPr>
        <p:spPr/>
        <p:txBody>
          <a:bodyPr>
            <a:normAutofit lnSpcReduction="10000"/>
          </a:bodyPr>
          <a:lstStyle/>
          <a:p>
            <a:r>
              <a:rPr lang="en-US" sz="2000" dirty="0">
                <a:latin typeface="Times New Roman" panose="02020603050405020304" pitchFamily="18" charset="0"/>
                <a:cs typeface="Times New Roman" panose="02020603050405020304" pitchFamily="18" charset="0"/>
              </a:rPr>
              <a:t>Supply Chain Manager – to get end to end visibility; to understand what processes and procedures are creating performance bottlenecks and what is impacting velocity; to establish trends etc.;</a:t>
            </a:r>
          </a:p>
          <a:p>
            <a:r>
              <a:rPr lang="en-US" sz="2000" dirty="0">
                <a:latin typeface="Times New Roman" panose="02020603050405020304" pitchFamily="18" charset="0"/>
                <a:cs typeface="Times New Roman" panose="02020603050405020304" pitchFamily="18" charset="0"/>
              </a:rPr>
              <a:t> Procurement and Purchasing Manager – to ascertain supplier reliability and on-time delivery; to negotiate prices with vendors taking into consideration manufacturing lead time and defect rate information;</a:t>
            </a:r>
          </a:p>
          <a:p>
            <a:r>
              <a:rPr lang="en-US" sz="2000" dirty="0">
                <a:latin typeface="Times New Roman" panose="02020603050405020304" pitchFamily="18" charset="0"/>
                <a:cs typeface="Times New Roman" panose="02020603050405020304" pitchFamily="18" charset="0"/>
              </a:rPr>
              <a:t> Logistics and Distribution Manager - to manage modes of transport, choice of routing, transport cost and provider performance;</a:t>
            </a:r>
          </a:p>
          <a:p>
            <a:r>
              <a:rPr lang="en-US" sz="2000" dirty="0">
                <a:latin typeface="Times New Roman" panose="02020603050405020304" pitchFamily="18" charset="0"/>
                <a:cs typeface="Times New Roman" panose="02020603050405020304" pitchFamily="18" charset="0"/>
              </a:rPr>
              <a:t>Quality assurance personnel - to analyze quality results and respond to significant changes in quality trends or increased defect rates in the factory;</a:t>
            </a:r>
          </a:p>
          <a:p>
            <a:r>
              <a:rPr lang="en-US" sz="2000" dirty="0">
                <a:latin typeface="Times New Roman" panose="02020603050405020304" pitchFamily="18" charset="0"/>
                <a:cs typeface="Times New Roman" panose="02020603050405020304" pitchFamily="18" charset="0"/>
              </a:rPr>
              <a:t> Inventory Control Specialist – to avoid stock-outs and to avoid overstocking by correctly tracking lead time and quantity of order;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662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0BA80-C819-A1E3-B710-5868B1CADFF4}"/>
              </a:ext>
            </a:extLst>
          </p:cNvPr>
          <p:cNvSpPr>
            <a:spLocks noGrp="1"/>
          </p:cNvSpPr>
          <p:nvPr>
            <p:ph type="title"/>
          </p:nvPr>
        </p:nvSpPr>
        <p:spPr>
          <a:xfrm>
            <a:off x="646111" y="1061884"/>
            <a:ext cx="9404723" cy="791364"/>
          </a:xfrm>
        </p:spPr>
        <p:txBody>
          <a:bodyPr>
            <a:normAutofit/>
          </a:bodyPr>
          <a:lstStyle/>
          <a:p>
            <a:pPr algn="ctr"/>
            <a:r>
              <a:rPr lang="en-IN" sz="3000" dirty="0">
                <a:latin typeface="Times New Roman" panose="02020603050405020304" pitchFamily="18" charset="0"/>
                <a:cs typeface="Times New Roman" panose="02020603050405020304" pitchFamily="18" charset="0"/>
              </a:rPr>
              <a:t>Technologies Used In this Project </a:t>
            </a:r>
            <a:endParaRPr lang="en-IN" sz="3000" dirty="0"/>
          </a:p>
        </p:txBody>
      </p:sp>
      <p:sp>
        <p:nvSpPr>
          <p:cNvPr id="3" name="Content Placeholder 2">
            <a:extLst>
              <a:ext uri="{FF2B5EF4-FFF2-40B4-BE49-F238E27FC236}">
                <a16:creationId xmlns:a16="http://schemas.microsoft.com/office/drawing/2014/main" id="{34955535-8261-1184-6753-F4AAC9AF8197}"/>
              </a:ext>
            </a:extLst>
          </p:cNvPr>
          <p:cNvSpPr>
            <a:spLocks noGrp="1"/>
          </p:cNvSpPr>
          <p:nvPr>
            <p:ph idx="1"/>
          </p:nvPr>
        </p:nvSpPr>
        <p:spPr/>
        <p:txBody>
          <a:bodyPr>
            <a:normAutofit fontScale="85000" lnSpcReduction="20000"/>
          </a:bodyPr>
          <a:lstStyle/>
          <a:p>
            <a:pPr marL="0" indent="0">
              <a:buNone/>
            </a:pPr>
            <a:r>
              <a:rPr lang="en-US" sz="2000" b="1" u="sng" dirty="0">
                <a:latin typeface="Times New Roman" panose="02020603050405020304" pitchFamily="18" charset="0"/>
                <a:cs typeface="Times New Roman" panose="02020603050405020304" pitchFamily="18" charset="0"/>
              </a:rPr>
              <a:t>Hardware Requirements</a:t>
            </a:r>
          </a:p>
          <a:p>
            <a:pPr marL="0" indent="0">
              <a:buNone/>
            </a:pPr>
            <a:r>
              <a:rPr lang="en-IN" sz="2000" dirty="0">
                <a:latin typeface="Times New Roman" panose="02020603050405020304" pitchFamily="18" charset="0"/>
                <a:cs typeface="Times New Roman" panose="02020603050405020304" pitchFamily="18" charset="0"/>
              </a:rPr>
              <a:t>The hardware requirements for performing the Supply Chain Analysis are:</a:t>
            </a:r>
            <a:endParaRPr lang="en-IN" sz="2000" u="sng"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RAM – 8.00 GB</a:t>
            </a:r>
            <a:endParaRPr lang="en-IN"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Operating System – Windows 11 </a:t>
            </a:r>
            <a:endParaRPr lang="en-IN"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Processor – Intel(R) Core(TM) i3-1115g4</a:t>
            </a:r>
            <a:endParaRPr lang="en-IN"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Processor speed – 3.00 GHz</a:t>
            </a:r>
            <a:endParaRPr lang="en-IN" dirty="0">
              <a:latin typeface="Times New Roman" panose="02020603050405020304" pitchFamily="18" charset="0"/>
              <a:cs typeface="Times New Roman" panose="02020603050405020304" pitchFamily="18" charset="0"/>
            </a:endParaRPr>
          </a:p>
          <a:p>
            <a:pPr marL="0" indent="0">
              <a:buNone/>
            </a:pPr>
            <a:r>
              <a:rPr lang="en-IN" sz="2000" b="1" u="sng" dirty="0">
                <a:latin typeface="Times New Roman" panose="02020603050405020304" pitchFamily="18" charset="0"/>
                <a:cs typeface="Times New Roman" panose="02020603050405020304" pitchFamily="18" charset="0"/>
              </a:rPr>
              <a:t>Software Requirements</a:t>
            </a:r>
          </a:p>
          <a:p>
            <a:pPr marL="0" indent="0">
              <a:buNone/>
            </a:pPr>
            <a:r>
              <a:rPr lang="en-IN" sz="2000" dirty="0">
                <a:latin typeface="Times New Roman" panose="02020603050405020304" pitchFamily="18" charset="0"/>
                <a:cs typeface="Times New Roman" panose="02020603050405020304" pitchFamily="18" charset="0"/>
              </a:rPr>
              <a:t>The software requirements for performing the Supply Chain  Analysis are:</a:t>
            </a:r>
          </a:p>
          <a:p>
            <a:pPr lvl="0"/>
            <a:r>
              <a:rPr lang="en-IN" sz="2000" dirty="0">
                <a:latin typeface="Times New Roman" panose="02020603050405020304" pitchFamily="18" charset="0"/>
                <a:cs typeface="Times New Roman" panose="02020603050405020304" pitchFamily="18" charset="0"/>
              </a:rPr>
              <a:t>Programming Language – Python </a:t>
            </a:r>
          </a:p>
          <a:p>
            <a:pPr lvl="0"/>
            <a:r>
              <a:rPr lang="en-IN" sz="2000" dirty="0">
                <a:latin typeface="Times New Roman" panose="02020603050405020304" pitchFamily="18" charset="0"/>
                <a:cs typeface="Times New Roman" panose="02020603050405020304" pitchFamily="18" charset="0"/>
              </a:rPr>
              <a:t>Development Environment / IDE – Jupyter Notebook </a:t>
            </a:r>
          </a:p>
          <a:p>
            <a:pPr lvl="0"/>
            <a:r>
              <a:rPr lang="en-IN" sz="2000" dirty="0">
                <a:latin typeface="Times New Roman" panose="02020603050405020304" pitchFamily="18" charset="0"/>
                <a:cs typeface="Times New Roman" panose="02020603050405020304" pitchFamily="18" charset="0"/>
              </a:rPr>
              <a:t>Data Analysis Libraries – Pandas, NumPy </a:t>
            </a:r>
          </a:p>
          <a:p>
            <a:pPr lvl="0"/>
            <a:r>
              <a:rPr lang="en-IN" sz="2000" dirty="0">
                <a:latin typeface="Times New Roman" panose="02020603050405020304" pitchFamily="18" charset="0"/>
                <a:cs typeface="Times New Roman" panose="02020603050405020304" pitchFamily="18" charset="0"/>
              </a:rPr>
              <a:t>Data Visualization Libraries – Matplotlib, Seaborn </a:t>
            </a:r>
          </a:p>
          <a:p>
            <a:pPr lvl="0"/>
            <a:r>
              <a:rPr lang="en-IN" sz="2000" dirty="0">
                <a:latin typeface="Times New Roman" panose="02020603050405020304" pitchFamily="18" charset="0"/>
                <a:cs typeface="Times New Roman" panose="02020603050405020304" pitchFamily="18" charset="0"/>
              </a:rPr>
              <a:t>Dataset Format – CSV</a:t>
            </a:r>
          </a:p>
          <a:p>
            <a:pPr marL="0" indent="0">
              <a:buNone/>
            </a:pPr>
            <a:endParaRPr lang="en-IN" dirty="0"/>
          </a:p>
        </p:txBody>
      </p:sp>
    </p:spTree>
    <p:extLst>
      <p:ext uri="{BB962C8B-B14F-4D97-AF65-F5344CB8AC3E}">
        <p14:creationId xmlns:p14="http://schemas.microsoft.com/office/powerpoint/2010/main" val="3237864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8B15A-CD1C-EAF8-AD58-4D1DE2692E35}"/>
              </a:ext>
            </a:extLst>
          </p:cNvPr>
          <p:cNvSpPr>
            <a:spLocks noGrp="1"/>
          </p:cNvSpPr>
          <p:nvPr>
            <p:ph type="ctrTitle"/>
          </p:nvPr>
        </p:nvSpPr>
        <p:spPr>
          <a:xfrm>
            <a:off x="1154955" y="1447800"/>
            <a:ext cx="8825658" cy="970935"/>
          </a:xfrm>
        </p:spPr>
        <p:txBody>
          <a:bodyPr/>
          <a:lstStyle/>
          <a:p>
            <a:r>
              <a:rPr lang="en-IN" sz="3000" dirty="0">
                <a:latin typeface="Times New Roman" panose="02020603050405020304" pitchFamily="18" charset="0"/>
                <a:cs typeface="Times New Roman" panose="02020603050405020304" pitchFamily="18" charset="0"/>
              </a:rPr>
              <a:t>                            Data Cleaning Process</a:t>
            </a:r>
          </a:p>
        </p:txBody>
      </p:sp>
    </p:spTree>
    <p:extLst>
      <p:ext uri="{BB962C8B-B14F-4D97-AF65-F5344CB8AC3E}">
        <p14:creationId xmlns:p14="http://schemas.microsoft.com/office/powerpoint/2010/main" val="3837175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38D4522-BA63-216C-C008-455E7D9DAFD8}"/>
              </a:ext>
            </a:extLst>
          </p:cNvPr>
          <p:cNvPicPr>
            <a:picLocks noGrp="1" noChangeAspect="1"/>
          </p:cNvPicPr>
          <p:nvPr>
            <p:ph idx="1"/>
          </p:nvPr>
        </p:nvPicPr>
        <p:blipFill>
          <a:blip r:embed="rId2"/>
          <a:stretch>
            <a:fillRect/>
          </a:stretch>
        </p:blipFill>
        <p:spPr>
          <a:xfrm>
            <a:off x="318344" y="1793815"/>
            <a:ext cx="11555312" cy="1635185"/>
          </a:xfrm>
          <a:prstGeom prst="rect">
            <a:avLst/>
          </a:prstGeom>
        </p:spPr>
      </p:pic>
    </p:spTree>
    <p:extLst>
      <p:ext uri="{BB962C8B-B14F-4D97-AF65-F5344CB8AC3E}">
        <p14:creationId xmlns:p14="http://schemas.microsoft.com/office/powerpoint/2010/main" val="376432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C2D5363-82CA-7D1A-FFAD-228031ADCD52}"/>
              </a:ext>
            </a:extLst>
          </p:cNvPr>
          <p:cNvPicPr>
            <a:picLocks noChangeAspect="1"/>
          </p:cNvPicPr>
          <p:nvPr/>
        </p:nvPicPr>
        <p:blipFill>
          <a:blip r:embed="rId2"/>
          <a:stretch>
            <a:fillRect/>
          </a:stretch>
        </p:blipFill>
        <p:spPr>
          <a:xfrm>
            <a:off x="2609360" y="319291"/>
            <a:ext cx="5964369" cy="6312358"/>
          </a:xfrm>
          <a:prstGeom prst="rect">
            <a:avLst/>
          </a:prstGeom>
        </p:spPr>
      </p:pic>
    </p:spTree>
    <p:extLst>
      <p:ext uri="{BB962C8B-B14F-4D97-AF65-F5344CB8AC3E}">
        <p14:creationId xmlns:p14="http://schemas.microsoft.com/office/powerpoint/2010/main" val="4100352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A6FFA0-EE27-84E0-4323-952DDBBC312D}"/>
              </a:ext>
            </a:extLst>
          </p:cNvPr>
          <p:cNvPicPr>
            <a:picLocks noGrp="1" noChangeAspect="1"/>
          </p:cNvPicPr>
          <p:nvPr>
            <p:ph idx="1"/>
          </p:nvPr>
        </p:nvPicPr>
        <p:blipFill>
          <a:blip r:embed="rId2"/>
          <a:stretch>
            <a:fillRect/>
          </a:stretch>
        </p:blipFill>
        <p:spPr>
          <a:xfrm>
            <a:off x="2346771" y="118987"/>
            <a:ext cx="6531757" cy="6620025"/>
          </a:xfrm>
          <a:prstGeom prst="rect">
            <a:avLst/>
          </a:prstGeom>
        </p:spPr>
      </p:pic>
    </p:spTree>
    <p:extLst>
      <p:ext uri="{BB962C8B-B14F-4D97-AF65-F5344CB8AC3E}">
        <p14:creationId xmlns:p14="http://schemas.microsoft.com/office/powerpoint/2010/main" val="3267612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5CD199-7F96-9E07-188A-58AD212BEDB8}"/>
              </a:ext>
            </a:extLst>
          </p:cNvPr>
          <p:cNvPicPr>
            <a:picLocks noGrp="1" noChangeAspect="1"/>
          </p:cNvPicPr>
          <p:nvPr>
            <p:ph idx="1"/>
          </p:nvPr>
        </p:nvPicPr>
        <p:blipFill>
          <a:blip r:embed="rId2"/>
          <a:stretch>
            <a:fillRect/>
          </a:stretch>
        </p:blipFill>
        <p:spPr>
          <a:xfrm>
            <a:off x="2458524" y="202556"/>
            <a:ext cx="6567489" cy="6452888"/>
          </a:xfrm>
          <a:prstGeom prst="rect">
            <a:avLst/>
          </a:prstGeom>
        </p:spPr>
      </p:pic>
    </p:spTree>
    <p:extLst>
      <p:ext uri="{BB962C8B-B14F-4D97-AF65-F5344CB8AC3E}">
        <p14:creationId xmlns:p14="http://schemas.microsoft.com/office/powerpoint/2010/main" val="3858263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83ABAE4-0089-A567-36AA-1499698138B9}"/>
              </a:ext>
            </a:extLst>
          </p:cNvPr>
          <p:cNvPicPr>
            <a:picLocks noGrp="1" noChangeAspect="1"/>
          </p:cNvPicPr>
          <p:nvPr>
            <p:ph idx="1"/>
          </p:nvPr>
        </p:nvPicPr>
        <p:blipFill>
          <a:blip r:embed="rId2"/>
          <a:stretch>
            <a:fillRect/>
          </a:stretch>
        </p:blipFill>
        <p:spPr>
          <a:xfrm>
            <a:off x="767155" y="1711798"/>
            <a:ext cx="10657690" cy="2103118"/>
          </a:xfrm>
          <a:prstGeom prst="rect">
            <a:avLst/>
          </a:prstGeom>
        </p:spPr>
      </p:pic>
    </p:spTree>
    <p:extLst>
      <p:ext uri="{BB962C8B-B14F-4D97-AF65-F5344CB8AC3E}">
        <p14:creationId xmlns:p14="http://schemas.microsoft.com/office/powerpoint/2010/main" val="3115168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FA9F7A-C054-6110-4F2F-0DC0684CC85B}"/>
              </a:ext>
            </a:extLst>
          </p:cNvPr>
          <p:cNvPicPr>
            <a:picLocks noGrp="1" noChangeAspect="1"/>
          </p:cNvPicPr>
          <p:nvPr>
            <p:ph idx="1"/>
          </p:nvPr>
        </p:nvPicPr>
        <p:blipFill>
          <a:blip r:embed="rId2"/>
          <a:stretch>
            <a:fillRect/>
          </a:stretch>
        </p:blipFill>
        <p:spPr>
          <a:xfrm>
            <a:off x="306859" y="347011"/>
            <a:ext cx="11578281" cy="6163977"/>
          </a:xfrm>
          <a:prstGeom prst="rect">
            <a:avLst/>
          </a:prstGeom>
        </p:spPr>
      </p:pic>
    </p:spTree>
    <p:extLst>
      <p:ext uri="{BB962C8B-B14F-4D97-AF65-F5344CB8AC3E}">
        <p14:creationId xmlns:p14="http://schemas.microsoft.com/office/powerpoint/2010/main" val="545295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5329D03-12CE-A7D7-352A-0C0A18C7F68E}"/>
              </a:ext>
            </a:extLst>
          </p:cNvPr>
          <p:cNvPicPr>
            <a:picLocks noGrp="1" noChangeAspect="1"/>
          </p:cNvPicPr>
          <p:nvPr>
            <p:ph idx="1"/>
          </p:nvPr>
        </p:nvPicPr>
        <p:blipFill>
          <a:blip r:embed="rId2"/>
          <a:stretch>
            <a:fillRect/>
          </a:stretch>
        </p:blipFill>
        <p:spPr>
          <a:xfrm>
            <a:off x="343430" y="292365"/>
            <a:ext cx="11356955" cy="6273269"/>
          </a:xfrm>
          <a:prstGeom prst="rect">
            <a:avLst/>
          </a:prstGeom>
        </p:spPr>
      </p:pic>
    </p:spTree>
    <p:extLst>
      <p:ext uri="{BB962C8B-B14F-4D97-AF65-F5344CB8AC3E}">
        <p14:creationId xmlns:p14="http://schemas.microsoft.com/office/powerpoint/2010/main" val="1944751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0D628EE-F9B3-155D-54BB-2C141CBC767E}"/>
              </a:ext>
            </a:extLst>
          </p:cNvPr>
          <p:cNvPicPr>
            <a:picLocks noGrp="1" noChangeAspect="1"/>
          </p:cNvPicPr>
          <p:nvPr>
            <p:ph idx="1"/>
          </p:nvPr>
        </p:nvPicPr>
        <p:blipFill>
          <a:blip r:embed="rId2"/>
          <a:stretch>
            <a:fillRect/>
          </a:stretch>
        </p:blipFill>
        <p:spPr>
          <a:xfrm>
            <a:off x="244732" y="1255672"/>
            <a:ext cx="11702535" cy="4346656"/>
          </a:xfrm>
          <a:prstGeom prst="rect">
            <a:avLst/>
          </a:prstGeom>
        </p:spPr>
      </p:pic>
    </p:spTree>
    <p:extLst>
      <p:ext uri="{BB962C8B-B14F-4D97-AF65-F5344CB8AC3E}">
        <p14:creationId xmlns:p14="http://schemas.microsoft.com/office/powerpoint/2010/main" val="3351813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7730C74-C3EE-A63D-F7F9-8D42FD8A630D}"/>
              </a:ext>
            </a:extLst>
          </p:cNvPr>
          <p:cNvPicPr>
            <a:picLocks noGrp="1" noChangeAspect="1"/>
          </p:cNvPicPr>
          <p:nvPr>
            <p:ph idx="1"/>
          </p:nvPr>
        </p:nvPicPr>
        <p:blipFill>
          <a:blip r:embed="rId2"/>
          <a:stretch>
            <a:fillRect/>
          </a:stretch>
        </p:blipFill>
        <p:spPr>
          <a:xfrm>
            <a:off x="237601" y="1239159"/>
            <a:ext cx="11787251" cy="4809619"/>
          </a:xfrm>
          <a:prstGeom prst="rect">
            <a:avLst/>
          </a:prstGeom>
        </p:spPr>
      </p:pic>
    </p:spTree>
    <p:extLst>
      <p:ext uri="{BB962C8B-B14F-4D97-AF65-F5344CB8AC3E}">
        <p14:creationId xmlns:p14="http://schemas.microsoft.com/office/powerpoint/2010/main" val="1800434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1A15C0-B123-216E-6910-39012F20CFBE}"/>
              </a:ext>
            </a:extLst>
          </p:cNvPr>
          <p:cNvPicPr>
            <a:picLocks noGrp="1" noChangeAspect="1"/>
          </p:cNvPicPr>
          <p:nvPr>
            <p:ph idx="1"/>
          </p:nvPr>
        </p:nvPicPr>
        <p:blipFill>
          <a:blip r:embed="rId2"/>
          <a:stretch>
            <a:fillRect/>
          </a:stretch>
        </p:blipFill>
        <p:spPr>
          <a:xfrm>
            <a:off x="376239" y="1283632"/>
            <a:ext cx="11304483" cy="5235440"/>
          </a:xfrm>
          <a:prstGeom prst="rect">
            <a:avLst/>
          </a:prstGeom>
        </p:spPr>
      </p:pic>
    </p:spTree>
    <p:extLst>
      <p:ext uri="{BB962C8B-B14F-4D97-AF65-F5344CB8AC3E}">
        <p14:creationId xmlns:p14="http://schemas.microsoft.com/office/powerpoint/2010/main" val="2560151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EF3DA95-D8A7-75B2-3A45-4CC7AF537755}"/>
              </a:ext>
            </a:extLst>
          </p:cNvPr>
          <p:cNvPicPr>
            <a:picLocks noGrp="1" noChangeAspect="1"/>
          </p:cNvPicPr>
          <p:nvPr>
            <p:ph idx="1"/>
          </p:nvPr>
        </p:nvPicPr>
        <p:blipFill>
          <a:blip r:embed="rId2"/>
          <a:stretch>
            <a:fillRect/>
          </a:stretch>
        </p:blipFill>
        <p:spPr>
          <a:xfrm>
            <a:off x="175612" y="1791070"/>
            <a:ext cx="11840775" cy="2417137"/>
          </a:xfrm>
          <a:prstGeom prst="rect">
            <a:avLst/>
          </a:prstGeom>
        </p:spPr>
      </p:pic>
    </p:spTree>
    <p:extLst>
      <p:ext uri="{BB962C8B-B14F-4D97-AF65-F5344CB8AC3E}">
        <p14:creationId xmlns:p14="http://schemas.microsoft.com/office/powerpoint/2010/main" val="1936766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03C5DDD-326D-CBC2-3CE2-8543F35B67BA}"/>
              </a:ext>
            </a:extLst>
          </p:cNvPr>
          <p:cNvPicPr>
            <a:picLocks noGrp="1" noChangeAspect="1"/>
          </p:cNvPicPr>
          <p:nvPr>
            <p:ph idx="1"/>
          </p:nvPr>
        </p:nvPicPr>
        <p:blipFill>
          <a:blip r:embed="rId2"/>
          <a:stretch>
            <a:fillRect/>
          </a:stretch>
        </p:blipFill>
        <p:spPr>
          <a:xfrm>
            <a:off x="242397" y="1472680"/>
            <a:ext cx="11779017" cy="4633151"/>
          </a:xfrm>
          <a:prstGeom prst="rect">
            <a:avLst/>
          </a:prstGeom>
        </p:spPr>
      </p:pic>
    </p:spTree>
    <p:extLst>
      <p:ext uri="{BB962C8B-B14F-4D97-AF65-F5344CB8AC3E}">
        <p14:creationId xmlns:p14="http://schemas.microsoft.com/office/powerpoint/2010/main" val="3883013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BA0F38B-F9EA-541D-98C0-ED7E465D4A82}"/>
              </a:ext>
            </a:extLst>
          </p:cNvPr>
          <p:cNvPicPr>
            <a:picLocks noGrp="1" noChangeAspect="1"/>
          </p:cNvPicPr>
          <p:nvPr>
            <p:ph idx="1"/>
          </p:nvPr>
        </p:nvPicPr>
        <p:blipFill>
          <a:blip r:embed="rId2"/>
          <a:stretch>
            <a:fillRect/>
          </a:stretch>
        </p:blipFill>
        <p:spPr>
          <a:xfrm>
            <a:off x="600782" y="1375559"/>
            <a:ext cx="10775140" cy="5092824"/>
          </a:xfrm>
          <a:prstGeom prst="rect">
            <a:avLst/>
          </a:prstGeom>
        </p:spPr>
      </p:pic>
    </p:spTree>
    <p:extLst>
      <p:ext uri="{BB962C8B-B14F-4D97-AF65-F5344CB8AC3E}">
        <p14:creationId xmlns:p14="http://schemas.microsoft.com/office/powerpoint/2010/main" val="2516881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E5989-8495-10EB-CD55-223E4AE1D182}"/>
              </a:ext>
            </a:extLst>
          </p:cNvPr>
          <p:cNvSpPr>
            <a:spLocks noGrp="1"/>
          </p:cNvSpPr>
          <p:nvPr>
            <p:ph type="ctrTitle"/>
          </p:nvPr>
        </p:nvSpPr>
        <p:spPr>
          <a:xfrm>
            <a:off x="1469588" y="2074606"/>
            <a:ext cx="8825658" cy="785484"/>
          </a:xfrm>
        </p:spPr>
        <p:txBody>
          <a:bodyPr/>
          <a:lstStyle/>
          <a:p>
            <a:pPr algn="ctr"/>
            <a:r>
              <a:rPr lang="en-US" sz="3000" dirty="0">
                <a:latin typeface="Times New Roman" panose="02020603050405020304" pitchFamily="18" charset="0"/>
                <a:cs typeface="Times New Roman" panose="02020603050405020304" pitchFamily="18" charset="0"/>
              </a:rPr>
              <a:t>Exploratory Data Analysis (EDA)</a:t>
            </a:r>
            <a:endParaRPr lang="en-IN" sz="3000" dirty="0"/>
          </a:p>
        </p:txBody>
      </p:sp>
    </p:spTree>
    <p:extLst>
      <p:ext uri="{BB962C8B-B14F-4D97-AF65-F5344CB8AC3E}">
        <p14:creationId xmlns:p14="http://schemas.microsoft.com/office/powerpoint/2010/main" val="1232220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A75A5-407E-26CA-B4CF-FB5BA52D3D5B}"/>
              </a:ext>
            </a:extLst>
          </p:cNvPr>
          <p:cNvSpPr>
            <a:spLocks noGrp="1"/>
          </p:cNvSpPr>
          <p:nvPr>
            <p:ph type="title"/>
          </p:nvPr>
        </p:nvSpPr>
        <p:spPr>
          <a:xfrm>
            <a:off x="646111" y="993058"/>
            <a:ext cx="9404723" cy="860190"/>
          </a:xfrm>
        </p:spPr>
        <p:txBody>
          <a:bodyPr>
            <a:normAutofit/>
          </a:bodyPr>
          <a:lstStyle/>
          <a:p>
            <a:pPr algn="ctr"/>
            <a:r>
              <a:rPr lang="en-IN" sz="3000" dirty="0">
                <a:latin typeface="Times New Roman" panose="02020603050405020304" pitchFamily="18" charset="0"/>
                <a:cs typeface="Times New Roman" panose="02020603050405020304" pitchFamily="18" charset="0"/>
              </a:rPr>
              <a:t>What is the </a:t>
            </a:r>
            <a:r>
              <a:rPr lang="en-US" sz="3000" dirty="0">
                <a:latin typeface="Times New Roman" panose="02020603050405020304" pitchFamily="18" charset="0"/>
                <a:cs typeface="Times New Roman" panose="02020603050405020304" pitchFamily="18" charset="0"/>
              </a:rPr>
              <a:t>Exploratory Data Analysis (EDA)</a:t>
            </a:r>
            <a:endParaRPr lang="en-IN" sz="3000" dirty="0"/>
          </a:p>
        </p:txBody>
      </p:sp>
      <p:sp>
        <p:nvSpPr>
          <p:cNvPr id="3" name="Content Placeholder 2">
            <a:extLst>
              <a:ext uri="{FF2B5EF4-FFF2-40B4-BE49-F238E27FC236}">
                <a16:creationId xmlns:a16="http://schemas.microsoft.com/office/drawing/2014/main" id="{8681535F-95F0-45B2-2626-3E2A4A27A5BB}"/>
              </a:ext>
            </a:extLst>
          </p:cNvPr>
          <p:cNvSpPr>
            <a:spLocks noGrp="1"/>
          </p:cNvSpPr>
          <p:nvPr>
            <p:ph idx="1"/>
          </p:nvPr>
        </p:nvSpPr>
        <p:spPr/>
        <p:txBody>
          <a:bodyPr/>
          <a:lstStyle/>
          <a:p>
            <a:pPr marL="0" indent="0">
              <a:buNone/>
            </a:pPr>
            <a:r>
              <a:rPr lang="en-US" sz="2000" dirty="0">
                <a:latin typeface="Times New Roman" panose="02020603050405020304" pitchFamily="18" charset="0"/>
                <a:cs typeface="Times New Roman" panose="02020603050405020304" pitchFamily="18" charset="0"/>
              </a:rPr>
              <a:t>Exploratory Data Analysis (EDA)is a vital phase in data analysis involving the examination and visualization of data to uncover patterns ,trends, and insights.in the context of an Airbnb data analysis project, EDA allows researchers to gain a Comprehensive understanding of the dataset's characteristics, distribution and relationships between variables. Through techniques such as summary stastics, data visualization ,and correlation analysis, EDA sets the stage for further investigation and hypothesis testing, uiding subsequent analytical decisions.</a:t>
            </a:r>
            <a:endParaRPr lang="en-IN" sz="20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444018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C911173-3628-DC6E-8D72-3432AE9498F7}"/>
              </a:ext>
            </a:extLst>
          </p:cNvPr>
          <p:cNvPicPr>
            <a:picLocks noGrp="1" noChangeAspect="1"/>
          </p:cNvPicPr>
          <p:nvPr>
            <p:ph idx="1"/>
          </p:nvPr>
        </p:nvPicPr>
        <p:blipFill>
          <a:blip r:embed="rId2"/>
          <a:stretch>
            <a:fillRect/>
          </a:stretch>
        </p:blipFill>
        <p:spPr>
          <a:xfrm>
            <a:off x="374933" y="1079243"/>
            <a:ext cx="10863338" cy="5599702"/>
          </a:xfrm>
          <a:prstGeom prst="rect">
            <a:avLst/>
          </a:prstGeom>
        </p:spPr>
      </p:pic>
    </p:spTree>
    <p:extLst>
      <p:ext uri="{BB962C8B-B14F-4D97-AF65-F5344CB8AC3E}">
        <p14:creationId xmlns:p14="http://schemas.microsoft.com/office/powerpoint/2010/main" val="2520127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E346C72-C933-D4E6-D371-CD0C7F22DC81}"/>
              </a:ext>
            </a:extLst>
          </p:cNvPr>
          <p:cNvPicPr>
            <a:picLocks noGrp="1" noChangeAspect="1"/>
          </p:cNvPicPr>
          <p:nvPr>
            <p:ph idx="1"/>
          </p:nvPr>
        </p:nvPicPr>
        <p:blipFill>
          <a:blip r:embed="rId2"/>
          <a:stretch>
            <a:fillRect/>
          </a:stretch>
        </p:blipFill>
        <p:spPr>
          <a:xfrm>
            <a:off x="537780" y="2077565"/>
            <a:ext cx="11116440" cy="2091312"/>
          </a:xfrm>
          <a:prstGeom prst="rect">
            <a:avLst/>
          </a:prstGeom>
        </p:spPr>
      </p:pic>
    </p:spTree>
    <p:extLst>
      <p:ext uri="{BB962C8B-B14F-4D97-AF65-F5344CB8AC3E}">
        <p14:creationId xmlns:p14="http://schemas.microsoft.com/office/powerpoint/2010/main" val="2080565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F694377-B8E4-4025-91B1-CD1D54FBBC35}"/>
              </a:ext>
            </a:extLst>
          </p:cNvPr>
          <p:cNvPicPr>
            <a:picLocks noGrp="1" noChangeAspect="1"/>
          </p:cNvPicPr>
          <p:nvPr>
            <p:ph idx="1"/>
          </p:nvPr>
        </p:nvPicPr>
        <p:blipFill>
          <a:blip r:embed="rId2"/>
          <a:stretch>
            <a:fillRect/>
          </a:stretch>
        </p:blipFill>
        <p:spPr>
          <a:xfrm>
            <a:off x="1281050" y="705619"/>
            <a:ext cx="8718356" cy="5621458"/>
          </a:xfrm>
          <a:prstGeom prst="rect">
            <a:avLst/>
          </a:prstGeom>
        </p:spPr>
      </p:pic>
    </p:spTree>
    <p:extLst>
      <p:ext uri="{BB962C8B-B14F-4D97-AF65-F5344CB8AC3E}">
        <p14:creationId xmlns:p14="http://schemas.microsoft.com/office/powerpoint/2010/main" val="4139502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8EDF136-625A-7A8C-C6CF-32725D62DCD2}"/>
              </a:ext>
            </a:extLst>
          </p:cNvPr>
          <p:cNvPicPr>
            <a:picLocks noGrp="1" noChangeAspect="1"/>
          </p:cNvPicPr>
          <p:nvPr>
            <p:ph idx="1"/>
          </p:nvPr>
        </p:nvPicPr>
        <p:blipFill>
          <a:blip r:embed="rId2"/>
          <a:stretch>
            <a:fillRect/>
          </a:stretch>
        </p:blipFill>
        <p:spPr>
          <a:xfrm>
            <a:off x="544613" y="1241105"/>
            <a:ext cx="10860806" cy="5043208"/>
          </a:xfrm>
          <a:prstGeom prst="rect">
            <a:avLst/>
          </a:prstGeom>
        </p:spPr>
      </p:pic>
    </p:spTree>
    <p:extLst>
      <p:ext uri="{BB962C8B-B14F-4D97-AF65-F5344CB8AC3E}">
        <p14:creationId xmlns:p14="http://schemas.microsoft.com/office/powerpoint/2010/main" val="3908602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1434BB-B142-547A-1D66-05FFCB2606A2}"/>
              </a:ext>
            </a:extLst>
          </p:cNvPr>
          <p:cNvPicPr>
            <a:picLocks noGrp="1" noChangeAspect="1"/>
          </p:cNvPicPr>
          <p:nvPr>
            <p:ph idx="1"/>
          </p:nvPr>
        </p:nvPicPr>
        <p:blipFill>
          <a:blip r:embed="rId2"/>
          <a:stretch>
            <a:fillRect/>
          </a:stretch>
        </p:blipFill>
        <p:spPr>
          <a:xfrm>
            <a:off x="811921" y="390987"/>
            <a:ext cx="9354633" cy="6225236"/>
          </a:xfrm>
          <a:prstGeom prst="rect">
            <a:avLst/>
          </a:prstGeom>
        </p:spPr>
      </p:pic>
    </p:spTree>
    <p:extLst>
      <p:ext uri="{BB962C8B-B14F-4D97-AF65-F5344CB8AC3E}">
        <p14:creationId xmlns:p14="http://schemas.microsoft.com/office/powerpoint/2010/main" val="1705960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025F6F-ED95-71BE-AC42-EF61C64222D0}"/>
              </a:ext>
            </a:extLst>
          </p:cNvPr>
          <p:cNvPicPr>
            <a:picLocks noGrp="1" noChangeAspect="1"/>
          </p:cNvPicPr>
          <p:nvPr>
            <p:ph idx="1"/>
          </p:nvPr>
        </p:nvPicPr>
        <p:blipFill>
          <a:blip r:embed="rId2"/>
          <a:stretch>
            <a:fillRect/>
          </a:stretch>
        </p:blipFill>
        <p:spPr>
          <a:xfrm>
            <a:off x="435232" y="1294628"/>
            <a:ext cx="11461061" cy="4555566"/>
          </a:xfrm>
          <a:prstGeom prst="rect">
            <a:avLst/>
          </a:prstGeom>
        </p:spPr>
      </p:pic>
    </p:spTree>
    <p:extLst>
      <p:ext uri="{BB962C8B-B14F-4D97-AF65-F5344CB8AC3E}">
        <p14:creationId xmlns:p14="http://schemas.microsoft.com/office/powerpoint/2010/main" val="4039856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2836492-143D-87B4-43F8-B2377CCE5D9C}"/>
              </a:ext>
            </a:extLst>
          </p:cNvPr>
          <p:cNvPicPr>
            <a:picLocks noGrp="1" noChangeAspect="1"/>
          </p:cNvPicPr>
          <p:nvPr>
            <p:ph idx="1"/>
          </p:nvPr>
        </p:nvPicPr>
        <p:blipFill>
          <a:blip r:embed="rId2"/>
          <a:stretch>
            <a:fillRect/>
          </a:stretch>
        </p:blipFill>
        <p:spPr>
          <a:xfrm>
            <a:off x="777027" y="636791"/>
            <a:ext cx="10048289" cy="5807480"/>
          </a:xfrm>
          <a:prstGeom prst="rect">
            <a:avLst/>
          </a:prstGeom>
        </p:spPr>
      </p:pic>
    </p:spTree>
    <p:extLst>
      <p:ext uri="{BB962C8B-B14F-4D97-AF65-F5344CB8AC3E}">
        <p14:creationId xmlns:p14="http://schemas.microsoft.com/office/powerpoint/2010/main" val="596092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584FDD-6D8F-B94B-9232-8B02B9104116}"/>
              </a:ext>
            </a:extLst>
          </p:cNvPr>
          <p:cNvPicPr>
            <a:picLocks noGrp="1" noChangeAspect="1"/>
          </p:cNvPicPr>
          <p:nvPr>
            <p:ph idx="1"/>
          </p:nvPr>
        </p:nvPicPr>
        <p:blipFill>
          <a:blip r:embed="rId2"/>
          <a:stretch>
            <a:fillRect/>
          </a:stretch>
        </p:blipFill>
        <p:spPr>
          <a:xfrm>
            <a:off x="563051" y="1901037"/>
            <a:ext cx="11284819" cy="3267727"/>
          </a:xfrm>
          <a:prstGeom prst="rect">
            <a:avLst/>
          </a:prstGeom>
        </p:spPr>
      </p:pic>
    </p:spTree>
    <p:extLst>
      <p:ext uri="{BB962C8B-B14F-4D97-AF65-F5344CB8AC3E}">
        <p14:creationId xmlns:p14="http://schemas.microsoft.com/office/powerpoint/2010/main" val="2497662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2C6A27-C380-1BCF-DEBC-C080A6D7025B}"/>
              </a:ext>
            </a:extLst>
          </p:cNvPr>
          <p:cNvPicPr>
            <a:picLocks noGrp="1" noChangeAspect="1"/>
          </p:cNvPicPr>
          <p:nvPr>
            <p:ph idx="1"/>
          </p:nvPr>
        </p:nvPicPr>
        <p:blipFill>
          <a:blip r:embed="rId2"/>
          <a:stretch>
            <a:fillRect/>
          </a:stretch>
        </p:blipFill>
        <p:spPr>
          <a:xfrm>
            <a:off x="1696954" y="400859"/>
            <a:ext cx="8135303" cy="6056281"/>
          </a:xfrm>
          <a:prstGeom prst="rect">
            <a:avLst/>
          </a:prstGeom>
        </p:spPr>
      </p:pic>
    </p:spTree>
    <p:extLst>
      <p:ext uri="{BB962C8B-B14F-4D97-AF65-F5344CB8AC3E}">
        <p14:creationId xmlns:p14="http://schemas.microsoft.com/office/powerpoint/2010/main" val="1256688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B3BE3-6003-9DA0-B619-B750EA3E07AD}"/>
              </a:ext>
            </a:extLst>
          </p:cNvPr>
          <p:cNvSpPr>
            <a:spLocks noGrp="1"/>
          </p:cNvSpPr>
          <p:nvPr>
            <p:ph type="title"/>
          </p:nvPr>
        </p:nvSpPr>
        <p:spPr>
          <a:xfrm>
            <a:off x="646111" y="934064"/>
            <a:ext cx="9404723" cy="919183"/>
          </a:xfrm>
        </p:spPr>
        <p:txBody>
          <a:bodyPr/>
          <a:lstStyle/>
          <a:p>
            <a:pPr algn="ctr"/>
            <a:r>
              <a:rPr lang="en-IN" dirty="0"/>
              <a:t>  </a:t>
            </a:r>
            <a:r>
              <a:rPr lang="en-IN" sz="3000" dirty="0">
                <a:latin typeface="Times New Roman" panose="02020603050405020304" pitchFamily="18" charset="0"/>
                <a:cs typeface="Times New Roman" panose="02020603050405020304" pitchFamily="18" charset="0"/>
              </a:rPr>
              <a:t>Explanation of our findings</a:t>
            </a:r>
          </a:p>
        </p:txBody>
      </p:sp>
      <p:sp>
        <p:nvSpPr>
          <p:cNvPr id="3" name="Content Placeholder 2">
            <a:extLst>
              <a:ext uri="{FF2B5EF4-FFF2-40B4-BE49-F238E27FC236}">
                <a16:creationId xmlns:a16="http://schemas.microsoft.com/office/drawing/2014/main" id="{35A54704-9651-0D99-8C5A-F48486C2BEE5}"/>
              </a:ext>
            </a:extLst>
          </p:cNvPr>
          <p:cNvSpPr>
            <a:spLocks noGrp="1"/>
          </p:cNvSpPr>
          <p:nvPr>
            <p:ph idx="1"/>
          </p:nvPr>
        </p:nvSpPr>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1.The dataset contains 100 SKUs across 3 product categories (haircare, skincare, cosmetics) with no missing values or duplicates after cleaning.</a:t>
            </a:r>
          </a:p>
          <a:p>
            <a:pPr marL="0" indent="0">
              <a:buNone/>
            </a:pPr>
            <a:r>
              <a:rPr lang="en-US" dirty="0">
                <a:latin typeface="Times New Roman" panose="02020603050405020304" pitchFamily="18" charset="0"/>
                <a:cs typeface="Times New Roman" panose="02020603050405020304" pitchFamily="18" charset="0"/>
              </a:rPr>
              <a:t>2. Revenue generated shows wide variation across products, indicating uneven sales performance across the portfolio.</a:t>
            </a:r>
          </a:p>
          <a:p>
            <a:pPr marL="0" indent="0">
              <a:buNone/>
            </a:pPr>
            <a:r>
              <a:rPr lang="en-US" dirty="0">
                <a:latin typeface="Times New Roman" panose="02020603050405020304" pitchFamily="18" charset="0"/>
                <a:cs typeface="Times New Roman" panose="02020603050405020304" pitchFamily="18" charset="0"/>
              </a:rPr>
              <a:t>3. Correlation analysis shows most numeric supply chain metrics are only weakly correlated with each other — pricing, sales volume, manufacturing, and shipping metrics largely vary independently, suggesting revenue is driven by a mix of factors rather than any single lever.</a:t>
            </a:r>
          </a:p>
          <a:p>
            <a:pPr marL="0" indent="0">
              <a:buNone/>
            </a:pPr>
            <a:r>
              <a:rPr lang="en-US" dirty="0">
                <a:latin typeface="Times New Roman" panose="02020603050405020304" pitchFamily="18" charset="0"/>
                <a:cs typeface="Times New Roman" panose="02020603050405020304" pitchFamily="18" charset="0"/>
              </a:rPr>
              <a:t>4. Several numeric columns (e.g. Defect rates, Costs, Revenue generated) contain outlier values, indicating a few SKUs/orders with unusually high cost, defect, or revenue figures that merit special attention.</a:t>
            </a:r>
          </a:p>
          <a:p>
            <a:pPr marL="0" indent="0">
              <a:buNone/>
            </a:pPr>
            <a:r>
              <a:rPr lang="en-US" dirty="0">
                <a:latin typeface="Times New Roman" panose="02020603050405020304" pitchFamily="18" charset="0"/>
                <a:cs typeface="Times New Roman" panose="02020603050405020304" pitchFamily="18" charset="0"/>
              </a:rPr>
              <a:t>5. Costs and shipping performance vary meaningfully by transportation mode and carrier, suggesting opportunities for logistics optimization.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2536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CE7F6-B315-2751-31D1-A6454B07A76C}"/>
              </a:ext>
            </a:extLst>
          </p:cNvPr>
          <p:cNvSpPr>
            <a:spLocks noGrp="1"/>
          </p:cNvSpPr>
          <p:nvPr>
            <p:ph type="ctrTitle"/>
          </p:nvPr>
        </p:nvSpPr>
        <p:spPr>
          <a:xfrm>
            <a:off x="1154955" y="1447800"/>
            <a:ext cx="8825658" cy="1177413"/>
          </a:xfrm>
        </p:spPr>
        <p:txBody>
          <a:bodyPr/>
          <a:lstStyle/>
          <a:p>
            <a:pPr algn="ctr"/>
            <a:r>
              <a:rPr lang="en-IN" sz="3000" dirty="0">
                <a:latin typeface="Times New Roman" panose="02020603050405020304" pitchFamily="18" charset="0"/>
                <a:cs typeface="Times New Roman" panose="02020603050405020304" pitchFamily="18" charset="0"/>
              </a:rPr>
              <a:t>  Data Virtualization </a:t>
            </a:r>
          </a:p>
        </p:txBody>
      </p:sp>
    </p:spTree>
    <p:extLst>
      <p:ext uri="{BB962C8B-B14F-4D97-AF65-F5344CB8AC3E}">
        <p14:creationId xmlns:p14="http://schemas.microsoft.com/office/powerpoint/2010/main" val="614186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85A177A-C159-DB9A-1E47-6E3CD51B7BED}"/>
              </a:ext>
            </a:extLst>
          </p:cNvPr>
          <p:cNvPicPr>
            <a:picLocks noGrp="1" noChangeAspect="1"/>
          </p:cNvPicPr>
          <p:nvPr>
            <p:ph idx="1"/>
          </p:nvPr>
        </p:nvPicPr>
        <p:blipFill>
          <a:blip r:embed="rId2"/>
          <a:stretch>
            <a:fillRect/>
          </a:stretch>
        </p:blipFill>
        <p:spPr>
          <a:xfrm>
            <a:off x="892333" y="1010418"/>
            <a:ext cx="9520028" cy="5619795"/>
          </a:xfrm>
          <a:prstGeom prst="rect">
            <a:avLst/>
          </a:prstGeom>
        </p:spPr>
      </p:pic>
    </p:spTree>
    <p:extLst>
      <p:ext uri="{BB962C8B-B14F-4D97-AF65-F5344CB8AC3E}">
        <p14:creationId xmlns:p14="http://schemas.microsoft.com/office/powerpoint/2010/main" val="4239819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8E224AA-D41D-7CA8-8AA5-2C4BD625E6BF}"/>
              </a:ext>
            </a:extLst>
          </p:cNvPr>
          <p:cNvPicPr>
            <a:picLocks noGrp="1" noChangeAspect="1"/>
          </p:cNvPicPr>
          <p:nvPr>
            <p:ph idx="1"/>
          </p:nvPr>
        </p:nvPicPr>
        <p:blipFill>
          <a:blip r:embed="rId2"/>
          <a:stretch>
            <a:fillRect/>
          </a:stretch>
        </p:blipFill>
        <p:spPr>
          <a:xfrm>
            <a:off x="1335203" y="1187399"/>
            <a:ext cx="8831352" cy="5377551"/>
          </a:xfrm>
          <a:prstGeom prst="rect">
            <a:avLst/>
          </a:prstGeom>
        </p:spPr>
      </p:pic>
    </p:spTree>
    <p:extLst>
      <p:ext uri="{BB962C8B-B14F-4D97-AF65-F5344CB8AC3E}">
        <p14:creationId xmlns:p14="http://schemas.microsoft.com/office/powerpoint/2010/main" val="168605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C23D8A3-4AF3-729A-962A-41822844B5AB}"/>
              </a:ext>
            </a:extLst>
          </p:cNvPr>
          <p:cNvPicPr>
            <a:picLocks noGrp="1" noChangeAspect="1"/>
          </p:cNvPicPr>
          <p:nvPr>
            <p:ph idx="1"/>
          </p:nvPr>
        </p:nvPicPr>
        <p:blipFill>
          <a:blip r:embed="rId2"/>
          <a:stretch>
            <a:fillRect/>
          </a:stretch>
        </p:blipFill>
        <p:spPr>
          <a:xfrm>
            <a:off x="1105839" y="892430"/>
            <a:ext cx="9221943" cy="5439543"/>
          </a:xfrm>
          <a:prstGeom prst="rect">
            <a:avLst/>
          </a:prstGeom>
        </p:spPr>
      </p:pic>
    </p:spTree>
    <p:extLst>
      <p:ext uri="{BB962C8B-B14F-4D97-AF65-F5344CB8AC3E}">
        <p14:creationId xmlns:p14="http://schemas.microsoft.com/office/powerpoint/2010/main" val="36265810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B6E300-CA6B-7C6F-0180-ECB3D35FCC94}"/>
              </a:ext>
            </a:extLst>
          </p:cNvPr>
          <p:cNvPicPr>
            <a:picLocks noGrp="1" noChangeAspect="1"/>
          </p:cNvPicPr>
          <p:nvPr>
            <p:ph idx="1"/>
          </p:nvPr>
        </p:nvPicPr>
        <p:blipFill>
          <a:blip r:embed="rId2"/>
          <a:stretch>
            <a:fillRect/>
          </a:stretch>
        </p:blipFill>
        <p:spPr>
          <a:xfrm>
            <a:off x="757089" y="1118573"/>
            <a:ext cx="9468460" cy="5355897"/>
          </a:xfrm>
          <a:prstGeom prst="rect">
            <a:avLst/>
          </a:prstGeom>
        </p:spPr>
      </p:pic>
    </p:spTree>
    <p:extLst>
      <p:ext uri="{BB962C8B-B14F-4D97-AF65-F5344CB8AC3E}">
        <p14:creationId xmlns:p14="http://schemas.microsoft.com/office/powerpoint/2010/main" val="2041113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C6ABFE-906F-509E-A367-B6197AC372D1}"/>
              </a:ext>
            </a:extLst>
          </p:cNvPr>
          <p:cNvPicPr>
            <a:picLocks noGrp="1" noChangeAspect="1"/>
          </p:cNvPicPr>
          <p:nvPr>
            <p:ph idx="1"/>
          </p:nvPr>
        </p:nvPicPr>
        <p:blipFill>
          <a:blip r:embed="rId2"/>
          <a:stretch>
            <a:fillRect/>
          </a:stretch>
        </p:blipFill>
        <p:spPr>
          <a:xfrm>
            <a:off x="987067" y="971089"/>
            <a:ext cx="9415462" cy="5552465"/>
          </a:xfrm>
          <a:prstGeom prst="rect">
            <a:avLst/>
          </a:prstGeom>
        </p:spPr>
      </p:pic>
    </p:spTree>
    <p:extLst>
      <p:ext uri="{BB962C8B-B14F-4D97-AF65-F5344CB8AC3E}">
        <p14:creationId xmlns:p14="http://schemas.microsoft.com/office/powerpoint/2010/main" val="2887174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BC70540-A5C8-BF10-F511-C3C2D61F651F}"/>
              </a:ext>
            </a:extLst>
          </p:cNvPr>
          <p:cNvPicPr>
            <a:picLocks noGrp="1" noChangeAspect="1"/>
          </p:cNvPicPr>
          <p:nvPr>
            <p:ph idx="1"/>
          </p:nvPr>
        </p:nvPicPr>
        <p:blipFill>
          <a:blip r:embed="rId2"/>
          <a:stretch>
            <a:fillRect/>
          </a:stretch>
        </p:blipFill>
        <p:spPr>
          <a:xfrm>
            <a:off x="778197" y="902264"/>
            <a:ext cx="9747900" cy="5429710"/>
          </a:xfrm>
          <a:prstGeom prst="rect">
            <a:avLst/>
          </a:prstGeom>
        </p:spPr>
      </p:pic>
    </p:spTree>
    <p:extLst>
      <p:ext uri="{BB962C8B-B14F-4D97-AF65-F5344CB8AC3E}">
        <p14:creationId xmlns:p14="http://schemas.microsoft.com/office/powerpoint/2010/main" val="1985294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CB0DC5-3587-E6C2-8DAC-6AD06C026493}"/>
              </a:ext>
            </a:extLst>
          </p:cNvPr>
          <p:cNvPicPr>
            <a:picLocks noGrp="1" noChangeAspect="1"/>
          </p:cNvPicPr>
          <p:nvPr>
            <p:ph idx="1"/>
          </p:nvPr>
        </p:nvPicPr>
        <p:blipFill>
          <a:blip r:embed="rId2"/>
          <a:stretch>
            <a:fillRect/>
          </a:stretch>
        </p:blipFill>
        <p:spPr>
          <a:xfrm>
            <a:off x="2576015" y="192448"/>
            <a:ext cx="6164861" cy="6473104"/>
          </a:xfrm>
          <a:prstGeom prst="rect">
            <a:avLst/>
          </a:prstGeom>
        </p:spPr>
      </p:pic>
    </p:spTree>
    <p:extLst>
      <p:ext uri="{BB962C8B-B14F-4D97-AF65-F5344CB8AC3E}">
        <p14:creationId xmlns:p14="http://schemas.microsoft.com/office/powerpoint/2010/main" val="23069878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6FF6-AB77-CEC2-C832-4E126D938BA1}"/>
              </a:ext>
            </a:extLst>
          </p:cNvPr>
          <p:cNvSpPr>
            <a:spLocks noGrp="1"/>
          </p:cNvSpPr>
          <p:nvPr>
            <p:ph type="ctrTitle"/>
          </p:nvPr>
        </p:nvSpPr>
        <p:spPr>
          <a:xfrm>
            <a:off x="1154955" y="1447801"/>
            <a:ext cx="8825658" cy="990600"/>
          </a:xfrm>
        </p:spPr>
        <p:txBody>
          <a:bodyPr/>
          <a:lstStyle/>
          <a:p>
            <a:pPr algn="ctr"/>
            <a:r>
              <a:rPr lang="en-IN" sz="3000" dirty="0">
                <a:latin typeface="Times New Roman" panose="02020603050405020304" pitchFamily="18" charset="0"/>
                <a:cs typeface="Times New Roman" panose="02020603050405020304" pitchFamily="18" charset="0"/>
              </a:rPr>
              <a:t>Power BI</a:t>
            </a:r>
          </a:p>
        </p:txBody>
      </p:sp>
    </p:spTree>
    <p:extLst>
      <p:ext uri="{BB962C8B-B14F-4D97-AF65-F5344CB8AC3E}">
        <p14:creationId xmlns:p14="http://schemas.microsoft.com/office/powerpoint/2010/main" val="32040044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76A35-E9C7-DC5C-0AA7-C852AC24496F}"/>
              </a:ext>
            </a:extLst>
          </p:cNvPr>
          <p:cNvSpPr>
            <a:spLocks noGrp="1"/>
          </p:cNvSpPr>
          <p:nvPr>
            <p:ph type="title"/>
          </p:nvPr>
        </p:nvSpPr>
        <p:spPr>
          <a:xfrm>
            <a:off x="1012723" y="1071716"/>
            <a:ext cx="9038111" cy="781532"/>
          </a:xfrm>
        </p:spPr>
        <p:txBody>
          <a:bodyPr/>
          <a:lstStyle/>
          <a:p>
            <a:pPr algn="ctr"/>
            <a:r>
              <a:rPr lang="en-IN" sz="3000" dirty="0">
                <a:latin typeface="Times New Roman" panose="02020603050405020304" pitchFamily="18" charset="0"/>
                <a:cs typeface="Times New Roman" panose="02020603050405020304" pitchFamily="18" charset="0"/>
              </a:rPr>
              <a:t>What is Power BI ?</a:t>
            </a:r>
          </a:p>
        </p:txBody>
      </p:sp>
      <p:sp>
        <p:nvSpPr>
          <p:cNvPr id="3" name="Content Placeholder 2">
            <a:extLst>
              <a:ext uri="{FF2B5EF4-FFF2-40B4-BE49-F238E27FC236}">
                <a16:creationId xmlns:a16="http://schemas.microsoft.com/office/drawing/2014/main" id="{4F307A11-7E13-6686-C8AF-130870D4A804}"/>
              </a:ext>
            </a:extLst>
          </p:cNvPr>
          <p:cNvSpPr>
            <a:spLocks noGrp="1"/>
          </p:cNvSpPr>
          <p:nvPr>
            <p:ph idx="1"/>
          </p:nvPr>
        </p:nvSpPr>
        <p:spPr>
          <a:xfrm>
            <a:off x="1103312" y="2052918"/>
            <a:ext cx="8946541" cy="1093405"/>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Power BI is Microsoft's business analytics and data visualization platform that turns raw, disconnected data into interactive, easy-to-understand dashboards and reports</a:t>
            </a:r>
          </a:p>
        </p:txBody>
      </p:sp>
    </p:spTree>
    <p:extLst>
      <p:ext uri="{BB962C8B-B14F-4D97-AF65-F5344CB8AC3E}">
        <p14:creationId xmlns:p14="http://schemas.microsoft.com/office/powerpoint/2010/main" val="6404073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5C50D9-95A3-E4AF-1AB7-917018FF1BB8}"/>
              </a:ext>
            </a:extLst>
          </p:cNvPr>
          <p:cNvPicPr>
            <a:picLocks noGrp="1" noChangeAspect="1"/>
          </p:cNvPicPr>
          <p:nvPr>
            <p:ph idx="1"/>
          </p:nvPr>
        </p:nvPicPr>
        <p:blipFill>
          <a:blip r:embed="rId2"/>
          <a:stretch>
            <a:fillRect/>
          </a:stretch>
        </p:blipFill>
        <p:spPr>
          <a:xfrm>
            <a:off x="461012" y="1069411"/>
            <a:ext cx="10767427" cy="5499787"/>
          </a:xfrm>
          <a:prstGeom prst="rect">
            <a:avLst/>
          </a:prstGeom>
        </p:spPr>
      </p:pic>
    </p:spTree>
    <p:extLst>
      <p:ext uri="{BB962C8B-B14F-4D97-AF65-F5344CB8AC3E}">
        <p14:creationId xmlns:p14="http://schemas.microsoft.com/office/powerpoint/2010/main" val="64682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F9C5-5124-D892-9A40-FF9842EBA967}"/>
              </a:ext>
            </a:extLst>
          </p:cNvPr>
          <p:cNvSpPr>
            <a:spLocks noGrp="1"/>
          </p:cNvSpPr>
          <p:nvPr>
            <p:ph type="title"/>
          </p:nvPr>
        </p:nvSpPr>
        <p:spPr>
          <a:xfrm>
            <a:off x="646111" y="904568"/>
            <a:ext cx="9404723" cy="948680"/>
          </a:xfrm>
        </p:spPr>
        <p:txBody>
          <a:bodyPr/>
          <a:lstStyle/>
          <a:p>
            <a:r>
              <a:rPr lang="en-IN" dirty="0"/>
              <a:t>                          </a:t>
            </a:r>
            <a:r>
              <a:rPr lang="en-IN" sz="3000" dirty="0">
                <a:latin typeface="Times New Roman" panose="02020603050405020304" pitchFamily="18" charset="0"/>
                <a:cs typeface="Times New Roman" panose="02020603050405020304" pitchFamily="18" charset="0"/>
              </a:rPr>
              <a:t>Table View</a:t>
            </a:r>
          </a:p>
        </p:txBody>
      </p:sp>
      <p:pic>
        <p:nvPicPr>
          <p:cNvPr id="4" name="Content Placeholder 4">
            <a:extLst>
              <a:ext uri="{FF2B5EF4-FFF2-40B4-BE49-F238E27FC236}">
                <a16:creationId xmlns:a16="http://schemas.microsoft.com/office/drawing/2014/main" id="{C7408CD6-76AF-B165-D321-C2925387BADD}"/>
              </a:ext>
            </a:extLst>
          </p:cNvPr>
          <p:cNvPicPr>
            <a:picLocks noGrp="1" noChangeAspect="1"/>
          </p:cNvPicPr>
          <p:nvPr>
            <p:ph idx="1"/>
          </p:nvPr>
        </p:nvPicPr>
        <p:blipFill>
          <a:blip r:embed="rId2"/>
          <a:stretch>
            <a:fillRect/>
          </a:stretch>
        </p:blipFill>
        <p:spPr>
          <a:xfrm>
            <a:off x="-120805" y="2277303"/>
            <a:ext cx="12175153" cy="1127943"/>
          </a:xfrm>
          <a:prstGeom prst="rect">
            <a:avLst/>
          </a:prstGeom>
        </p:spPr>
      </p:pic>
      <p:pic>
        <p:nvPicPr>
          <p:cNvPr id="6" name="Picture 5">
            <a:extLst>
              <a:ext uri="{FF2B5EF4-FFF2-40B4-BE49-F238E27FC236}">
                <a16:creationId xmlns:a16="http://schemas.microsoft.com/office/drawing/2014/main" id="{9A9BC322-4BD4-ACD9-5693-7772B4961273}"/>
              </a:ext>
            </a:extLst>
          </p:cNvPr>
          <p:cNvPicPr>
            <a:picLocks noChangeAspect="1"/>
          </p:cNvPicPr>
          <p:nvPr/>
        </p:nvPicPr>
        <p:blipFill>
          <a:blip r:embed="rId3"/>
          <a:stretch>
            <a:fillRect/>
          </a:stretch>
        </p:blipFill>
        <p:spPr>
          <a:xfrm>
            <a:off x="210993" y="3750572"/>
            <a:ext cx="5942228" cy="2654710"/>
          </a:xfrm>
          <a:prstGeom prst="rect">
            <a:avLst/>
          </a:prstGeom>
        </p:spPr>
      </p:pic>
      <p:pic>
        <p:nvPicPr>
          <p:cNvPr id="8" name="Picture 7">
            <a:extLst>
              <a:ext uri="{FF2B5EF4-FFF2-40B4-BE49-F238E27FC236}">
                <a16:creationId xmlns:a16="http://schemas.microsoft.com/office/drawing/2014/main" id="{505EAECF-DEEF-513B-4A18-BEC4373C4926}"/>
              </a:ext>
            </a:extLst>
          </p:cNvPr>
          <p:cNvPicPr>
            <a:picLocks noChangeAspect="1"/>
          </p:cNvPicPr>
          <p:nvPr/>
        </p:nvPicPr>
        <p:blipFill>
          <a:blip r:embed="rId4"/>
          <a:stretch>
            <a:fillRect/>
          </a:stretch>
        </p:blipFill>
        <p:spPr>
          <a:xfrm>
            <a:off x="6297984" y="3714866"/>
            <a:ext cx="5683023" cy="2760787"/>
          </a:xfrm>
          <a:prstGeom prst="rect">
            <a:avLst/>
          </a:prstGeom>
        </p:spPr>
      </p:pic>
    </p:spTree>
    <p:extLst>
      <p:ext uri="{BB962C8B-B14F-4D97-AF65-F5344CB8AC3E}">
        <p14:creationId xmlns:p14="http://schemas.microsoft.com/office/powerpoint/2010/main" val="27085498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F4971-DB16-7612-D9D0-54FBB5806580}"/>
              </a:ext>
            </a:extLst>
          </p:cNvPr>
          <p:cNvSpPr>
            <a:spLocks noGrp="1"/>
          </p:cNvSpPr>
          <p:nvPr>
            <p:ph type="title"/>
          </p:nvPr>
        </p:nvSpPr>
        <p:spPr>
          <a:xfrm>
            <a:off x="646111" y="452718"/>
            <a:ext cx="9404723" cy="874637"/>
          </a:xfrm>
        </p:spPr>
        <p:txBody>
          <a:bodyPr/>
          <a:lstStyle/>
          <a:p>
            <a:r>
              <a:rPr lang="en-IN" dirty="0"/>
              <a:t>                        </a:t>
            </a:r>
            <a:r>
              <a:rPr lang="en-IN" sz="3000" dirty="0">
                <a:latin typeface="Times New Roman" panose="02020603050405020304" pitchFamily="18" charset="0"/>
                <a:cs typeface="Times New Roman" panose="02020603050405020304" pitchFamily="18" charset="0"/>
              </a:rPr>
              <a:t>Model View</a:t>
            </a:r>
          </a:p>
        </p:txBody>
      </p:sp>
      <p:pic>
        <p:nvPicPr>
          <p:cNvPr id="5" name="Content Placeholder 4">
            <a:extLst>
              <a:ext uri="{FF2B5EF4-FFF2-40B4-BE49-F238E27FC236}">
                <a16:creationId xmlns:a16="http://schemas.microsoft.com/office/drawing/2014/main" id="{FBC24072-13E3-BF81-7126-121BB2E564D8}"/>
              </a:ext>
            </a:extLst>
          </p:cNvPr>
          <p:cNvPicPr>
            <a:picLocks noGrp="1" noChangeAspect="1"/>
          </p:cNvPicPr>
          <p:nvPr>
            <p:ph idx="1"/>
          </p:nvPr>
        </p:nvPicPr>
        <p:blipFill>
          <a:blip r:embed="rId2"/>
          <a:stretch>
            <a:fillRect/>
          </a:stretch>
        </p:blipFill>
        <p:spPr>
          <a:xfrm>
            <a:off x="1210475" y="1462703"/>
            <a:ext cx="9015073" cy="4819760"/>
          </a:xfrm>
          <a:prstGeom prst="rect">
            <a:avLst/>
          </a:prstGeom>
        </p:spPr>
      </p:pic>
    </p:spTree>
    <p:extLst>
      <p:ext uri="{BB962C8B-B14F-4D97-AF65-F5344CB8AC3E}">
        <p14:creationId xmlns:p14="http://schemas.microsoft.com/office/powerpoint/2010/main" val="35128784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0464E-7683-1883-D6AA-F6416F1D816D}"/>
              </a:ext>
            </a:extLst>
          </p:cNvPr>
          <p:cNvSpPr>
            <a:spLocks noGrp="1"/>
          </p:cNvSpPr>
          <p:nvPr>
            <p:ph type="title"/>
          </p:nvPr>
        </p:nvSpPr>
        <p:spPr/>
        <p:txBody>
          <a:bodyPr/>
          <a:lstStyle/>
          <a:p>
            <a:pPr algn="ctr"/>
            <a:r>
              <a:rPr lang="en-IN" dirty="0"/>
              <a:t> </a:t>
            </a:r>
            <a:r>
              <a:rPr lang="en-IN" sz="3000" dirty="0"/>
              <a:t>DAX View </a:t>
            </a:r>
          </a:p>
        </p:txBody>
      </p:sp>
      <p:sp>
        <p:nvSpPr>
          <p:cNvPr id="7" name="Content Placeholder 6">
            <a:extLst>
              <a:ext uri="{FF2B5EF4-FFF2-40B4-BE49-F238E27FC236}">
                <a16:creationId xmlns:a16="http://schemas.microsoft.com/office/drawing/2014/main" id="{23762C56-04E9-E106-6011-A86FBD22460D}"/>
              </a:ext>
            </a:extLst>
          </p:cNvPr>
          <p:cNvSpPr>
            <a:spLocks noGrp="1"/>
          </p:cNvSpPr>
          <p:nvPr>
            <p:ph idx="1"/>
          </p:nvPr>
        </p:nvSpPr>
        <p:spPr/>
        <p:txBody>
          <a:bodyPr/>
          <a:lstStyle/>
          <a:p>
            <a:pPr marL="0" indent="0" algn="ctr">
              <a:buNone/>
            </a:pPr>
            <a:r>
              <a:rPr lang="en-US" dirty="0">
                <a:latin typeface="Times New Roman" panose="02020603050405020304" pitchFamily="18" charset="0"/>
                <a:cs typeface="Times New Roman" panose="02020603050405020304" pitchFamily="18" charset="0"/>
              </a:rPr>
              <a:t>     Total Revenue = SUM(</a:t>
            </a:r>
            <a:r>
              <a:rPr lang="en-US" dirty="0" err="1">
                <a:latin typeface="Times New Roman" panose="02020603050405020304" pitchFamily="18" charset="0"/>
                <a:cs typeface="Times New Roman" panose="02020603050405020304" pitchFamily="18" charset="0"/>
              </a:rPr>
              <a:t>Supply_Chain</a:t>
            </a:r>
            <a:r>
              <a:rPr lang="en-US" dirty="0">
                <a:latin typeface="Times New Roman" panose="02020603050405020304" pitchFamily="18" charset="0"/>
                <a:cs typeface="Times New Roman" panose="02020603050405020304" pitchFamily="18" charset="0"/>
              </a:rPr>
              <a:t>[Revenue generated])</a:t>
            </a:r>
          </a:p>
          <a:p>
            <a:pPr marL="0" indent="0">
              <a:buNone/>
            </a:pPr>
            <a:endParaRPr lang="en-IN" dirty="0"/>
          </a:p>
        </p:txBody>
      </p:sp>
      <p:pic>
        <p:nvPicPr>
          <p:cNvPr id="9" name="Picture 8">
            <a:extLst>
              <a:ext uri="{FF2B5EF4-FFF2-40B4-BE49-F238E27FC236}">
                <a16:creationId xmlns:a16="http://schemas.microsoft.com/office/drawing/2014/main" id="{DDCF6BE7-AD5E-EB80-00E8-295B089856AF}"/>
              </a:ext>
            </a:extLst>
          </p:cNvPr>
          <p:cNvPicPr>
            <a:picLocks noChangeAspect="1"/>
          </p:cNvPicPr>
          <p:nvPr/>
        </p:nvPicPr>
        <p:blipFill>
          <a:blip r:embed="rId2"/>
          <a:stretch>
            <a:fillRect/>
          </a:stretch>
        </p:blipFill>
        <p:spPr>
          <a:xfrm>
            <a:off x="1465117" y="2500440"/>
            <a:ext cx="7610057" cy="3677779"/>
          </a:xfrm>
          <a:prstGeom prst="rect">
            <a:avLst/>
          </a:prstGeom>
        </p:spPr>
      </p:pic>
    </p:spTree>
    <p:extLst>
      <p:ext uri="{BB962C8B-B14F-4D97-AF65-F5344CB8AC3E}">
        <p14:creationId xmlns:p14="http://schemas.microsoft.com/office/powerpoint/2010/main" val="19826662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121BF7-D1D5-A05C-9E6D-7BED5BD4EEED}"/>
              </a:ext>
            </a:extLst>
          </p:cNvPr>
          <p:cNvSpPr>
            <a:spLocks noGrp="1"/>
          </p:cNvSpPr>
          <p:nvPr>
            <p:ph idx="1"/>
          </p:nvPr>
        </p:nvSpPr>
        <p:spPr>
          <a:xfrm>
            <a:off x="1103312" y="884904"/>
            <a:ext cx="8946541" cy="5363496"/>
          </a:xfrm>
        </p:spPr>
        <p:txBody>
          <a:bodyPr/>
          <a:lstStyle/>
          <a:p>
            <a:pPr marL="0" indent="0" algn="ctr">
              <a:buNone/>
            </a:pPr>
            <a:r>
              <a:rPr lang="en-US" dirty="0">
                <a:latin typeface="Times New Roman" panose="02020603050405020304" pitchFamily="18" charset="0"/>
                <a:cs typeface="Times New Roman" panose="02020603050405020304" pitchFamily="18" charset="0"/>
              </a:rPr>
              <a:t>Total Units Sold = SUM(</a:t>
            </a:r>
            <a:r>
              <a:rPr lang="en-US" dirty="0" err="1">
                <a:latin typeface="Times New Roman" panose="02020603050405020304" pitchFamily="18" charset="0"/>
                <a:cs typeface="Times New Roman" panose="02020603050405020304" pitchFamily="18" charset="0"/>
              </a:rPr>
              <a:t>Supply_Chain</a:t>
            </a:r>
            <a:r>
              <a:rPr lang="en-US" dirty="0">
                <a:latin typeface="Times New Roman" panose="02020603050405020304" pitchFamily="18" charset="0"/>
                <a:cs typeface="Times New Roman" panose="02020603050405020304" pitchFamily="18" charset="0"/>
              </a:rPr>
              <a:t>[Number of products sold])</a:t>
            </a:r>
          </a:p>
          <a:p>
            <a:pPr marL="0" indent="0">
              <a:buNone/>
            </a:pPr>
            <a:endParaRPr lang="en-IN" dirty="0"/>
          </a:p>
        </p:txBody>
      </p:sp>
      <p:pic>
        <p:nvPicPr>
          <p:cNvPr id="5" name="Picture 4">
            <a:extLst>
              <a:ext uri="{FF2B5EF4-FFF2-40B4-BE49-F238E27FC236}">
                <a16:creationId xmlns:a16="http://schemas.microsoft.com/office/drawing/2014/main" id="{3567E118-419B-B7F8-5FEB-83102918058D}"/>
              </a:ext>
            </a:extLst>
          </p:cNvPr>
          <p:cNvPicPr>
            <a:picLocks noChangeAspect="1"/>
          </p:cNvPicPr>
          <p:nvPr/>
        </p:nvPicPr>
        <p:blipFill>
          <a:blip r:embed="rId2"/>
          <a:stretch>
            <a:fillRect/>
          </a:stretch>
        </p:blipFill>
        <p:spPr>
          <a:xfrm>
            <a:off x="770123" y="1416737"/>
            <a:ext cx="9878212" cy="4831663"/>
          </a:xfrm>
          <a:prstGeom prst="rect">
            <a:avLst/>
          </a:prstGeom>
        </p:spPr>
      </p:pic>
    </p:spTree>
    <p:extLst>
      <p:ext uri="{BB962C8B-B14F-4D97-AF65-F5344CB8AC3E}">
        <p14:creationId xmlns:p14="http://schemas.microsoft.com/office/powerpoint/2010/main" val="21950633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EEA35-513E-1468-E0A4-52D999D0AF90}"/>
              </a:ext>
            </a:extLst>
          </p:cNvPr>
          <p:cNvSpPr>
            <a:spLocks noGrp="1"/>
          </p:cNvSpPr>
          <p:nvPr>
            <p:ph idx="1"/>
          </p:nvPr>
        </p:nvSpPr>
        <p:spPr>
          <a:xfrm>
            <a:off x="1103312" y="786582"/>
            <a:ext cx="8946541" cy="5461818"/>
          </a:xfrm>
        </p:spPr>
        <p:txBody>
          <a:bodyPr/>
          <a:lstStyle/>
          <a:p>
            <a:pPr marL="0" indent="0" algn="ctr">
              <a:buNone/>
            </a:pPr>
            <a:r>
              <a:rPr lang="en-US" dirty="0">
                <a:latin typeface="Times New Roman" panose="02020603050405020304" pitchFamily="18" charset="0"/>
                <a:cs typeface="Times New Roman" panose="02020603050405020304" pitchFamily="18" charset="0"/>
              </a:rPr>
              <a:t>Average Defect Rate = AVERAGE(Supply_Chain[Defect rates])</a:t>
            </a:r>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A63BA366-6965-CD3C-3EFE-CFE47E4143DF}"/>
              </a:ext>
            </a:extLst>
          </p:cNvPr>
          <p:cNvPicPr>
            <a:picLocks noChangeAspect="1"/>
          </p:cNvPicPr>
          <p:nvPr/>
        </p:nvPicPr>
        <p:blipFill>
          <a:blip r:embed="rId2"/>
          <a:stretch>
            <a:fillRect/>
          </a:stretch>
        </p:blipFill>
        <p:spPr>
          <a:xfrm>
            <a:off x="673659" y="1298202"/>
            <a:ext cx="9805846" cy="4773216"/>
          </a:xfrm>
          <a:prstGeom prst="rect">
            <a:avLst/>
          </a:prstGeom>
        </p:spPr>
      </p:pic>
    </p:spTree>
    <p:extLst>
      <p:ext uri="{BB962C8B-B14F-4D97-AF65-F5344CB8AC3E}">
        <p14:creationId xmlns:p14="http://schemas.microsoft.com/office/powerpoint/2010/main" val="639370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C577C1-3A05-55CA-92DA-91BF3C7190E5}"/>
              </a:ext>
            </a:extLst>
          </p:cNvPr>
          <p:cNvSpPr>
            <a:spLocks noGrp="1"/>
          </p:cNvSpPr>
          <p:nvPr>
            <p:ph idx="1"/>
          </p:nvPr>
        </p:nvSpPr>
        <p:spPr>
          <a:xfrm>
            <a:off x="1103312" y="816078"/>
            <a:ext cx="8946541" cy="5432322"/>
          </a:xfrm>
        </p:spPr>
        <p:txBody>
          <a:bodyPr/>
          <a:lstStyle/>
          <a:p>
            <a:pPr marL="0" indent="0" algn="ctr">
              <a:buNone/>
            </a:pPr>
            <a:r>
              <a:rPr lang="en-US" dirty="0">
                <a:latin typeface="Times New Roman" panose="02020603050405020304" pitchFamily="18" charset="0"/>
                <a:cs typeface="Times New Roman" panose="02020603050405020304" pitchFamily="18" charset="0"/>
              </a:rPr>
              <a:t>Average Ship cost = SUM(Supply_Chain[Shipping costs])</a:t>
            </a:r>
          </a:p>
          <a:p>
            <a:pPr marL="0" indent="0">
              <a:buNone/>
            </a:pPr>
            <a:endParaRPr lang="en-IN" dirty="0"/>
          </a:p>
        </p:txBody>
      </p:sp>
      <p:pic>
        <p:nvPicPr>
          <p:cNvPr id="5" name="Picture 4">
            <a:extLst>
              <a:ext uri="{FF2B5EF4-FFF2-40B4-BE49-F238E27FC236}">
                <a16:creationId xmlns:a16="http://schemas.microsoft.com/office/drawing/2014/main" id="{17A2EF06-B59B-857E-6C28-4BA97FFCDA3D}"/>
              </a:ext>
            </a:extLst>
          </p:cNvPr>
          <p:cNvPicPr>
            <a:picLocks noChangeAspect="1"/>
          </p:cNvPicPr>
          <p:nvPr/>
        </p:nvPicPr>
        <p:blipFill>
          <a:blip r:embed="rId2"/>
          <a:stretch>
            <a:fillRect/>
          </a:stretch>
        </p:blipFill>
        <p:spPr>
          <a:xfrm>
            <a:off x="473814" y="1316168"/>
            <a:ext cx="10614874" cy="5106503"/>
          </a:xfrm>
          <a:prstGeom prst="rect">
            <a:avLst/>
          </a:prstGeom>
        </p:spPr>
      </p:pic>
    </p:spTree>
    <p:extLst>
      <p:ext uri="{BB962C8B-B14F-4D97-AF65-F5344CB8AC3E}">
        <p14:creationId xmlns:p14="http://schemas.microsoft.com/office/powerpoint/2010/main" val="152168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6F8B-15E7-1BCA-4785-5996FA6AA2CC}"/>
              </a:ext>
            </a:extLst>
          </p:cNvPr>
          <p:cNvSpPr>
            <a:spLocks noGrp="1"/>
          </p:cNvSpPr>
          <p:nvPr>
            <p:ph type="ctrTitle"/>
          </p:nvPr>
        </p:nvSpPr>
        <p:spPr>
          <a:xfrm>
            <a:off x="1154955" y="1447800"/>
            <a:ext cx="8825658" cy="725129"/>
          </a:xfrm>
        </p:spPr>
        <p:txBody>
          <a:bodyPr/>
          <a:lstStyle/>
          <a:p>
            <a:pPr algn="ctr"/>
            <a:r>
              <a:rPr lang="en-IN" sz="3000" dirty="0">
                <a:latin typeface="Times New Roman" panose="02020603050405020304" pitchFamily="18" charset="0"/>
                <a:cs typeface="Times New Roman" panose="02020603050405020304" pitchFamily="18" charset="0"/>
              </a:rPr>
              <a:t>Business Insights and Recommendations</a:t>
            </a:r>
          </a:p>
        </p:txBody>
      </p:sp>
    </p:spTree>
    <p:extLst>
      <p:ext uri="{BB962C8B-B14F-4D97-AF65-F5344CB8AC3E}">
        <p14:creationId xmlns:p14="http://schemas.microsoft.com/office/powerpoint/2010/main" val="1869902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6C77A4-33AC-17DC-59DC-D8C8A3C3C315}"/>
              </a:ext>
            </a:extLst>
          </p:cNvPr>
          <p:cNvPicPr>
            <a:picLocks noGrp="1" noChangeAspect="1"/>
          </p:cNvPicPr>
          <p:nvPr>
            <p:ph idx="1"/>
          </p:nvPr>
        </p:nvPicPr>
        <p:blipFill>
          <a:blip r:embed="rId2"/>
          <a:stretch>
            <a:fillRect/>
          </a:stretch>
        </p:blipFill>
        <p:spPr>
          <a:xfrm>
            <a:off x="524949" y="1229913"/>
            <a:ext cx="10928199" cy="5279041"/>
          </a:xfrm>
          <a:prstGeom prst="rect">
            <a:avLst/>
          </a:prstGeom>
        </p:spPr>
      </p:pic>
    </p:spTree>
    <p:extLst>
      <p:ext uri="{BB962C8B-B14F-4D97-AF65-F5344CB8AC3E}">
        <p14:creationId xmlns:p14="http://schemas.microsoft.com/office/powerpoint/2010/main" val="1566364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716B-7D7B-02E1-2D22-80881A51AB7A}"/>
              </a:ext>
            </a:extLst>
          </p:cNvPr>
          <p:cNvSpPr>
            <a:spLocks noGrp="1"/>
          </p:cNvSpPr>
          <p:nvPr>
            <p:ph type="title"/>
          </p:nvPr>
        </p:nvSpPr>
        <p:spPr>
          <a:xfrm>
            <a:off x="646111" y="452718"/>
            <a:ext cx="9404723" cy="766482"/>
          </a:xfrm>
        </p:spPr>
        <p:txBody>
          <a:bodyPr/>
          <a:lstStyle/>
          <a:p>
            <a:r>
              <a:rPr lang="en-IN" dirty="0"/>
              <a:t>                       </a:t>
            </a:r>
            <a:r>
              <a:rPr lang="en-IN" sz="3000" dirty="0">
                <a:latin typeface="Times New Roman" panose="02020603050405020304" pitchFamily="18" charset="0"/>
                <a:cs typeface="Times New Roman" panose="02020603050405020304" pitchFamily="18" charset="0"/>
              </a:rPr>
              <a:t>Business Insights </a:t>
            </a:r>
          </a:p>
        </p:txBody>
      </p:sp>
      <p:sp>
        <p:nvSpPr>
          <p:cNvPr id="3" name="Content Placeholder 2">
            <a:extLst>
              <a:ext uri="{FF2B5EF4-FFF2-40B4-BE49-F238E27FC236}">
                <a16:creationId xmlns:a16="http://schemas.microsoft.com/office/drawing/2014/main" id="{D6E66662-1ED7-B234-2880-AB74329F60C4}"/>
              </a:ext>
            </a:extLst>
          </p:cNvPr>
          <p:cNvSpPr>
            <a:spLocks noGrp="1"/>
          </p:cNvSpPr>
          <p:nvPr>
            <p:ph idx="1"/>
          </p:nvPr>
        </p:nvSpPr>
        <p:spPr>
          <a:xfrm>
            <a:off x="914400" y="1219200"/>
            <a:ext cx="10373032" cy="5270090"/>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1. Top-performing product category : skincare generates the highest total revenue, while cosmetics lags behind. Product mix and marketing focus should lean toward high performers.</a:t>
            </a:r>
          </a:p>
          <a:p>
            <a:pPr marL="0" indent="0">
              <a:buNone/>
            </a:pPr>
            <a:r>
              <a:rPr lang="en-US" dirty="0">
                <a:latin typeface="Times New Roman" panose="02020603050405020304" pitchFamily="18" charset="0"/>
                <a:cs typeface="Times New Roman" panose="02020603050405020304" pitchFamily="18" charset="0"/>
              </a:rPr>
              <a:t>2. Regional revenue concentration: Mumbai contributes the highest total revenue among all locations, indicating a geographically concentrated demand/supply base.</a:t>
            </a:r>
          </a:p>
          <a:p>
            <a:pPr marL="0" indent="0">
              <a:buNone/>
            </a:pPr>
            <a:r>
              <a:rPr lang="en-US" dirty="0">
                <a:latin typeface="Times New Roman" panose="02020603050405020304" pitchFamily="18" charset="0"/>
                <a:cs typeface="Times New Roman" panose="02020603050405020304" pitchFamily="18" charset="0"/>
              </a:rPr>
              <a:t>3. Shipping carrier cost gap: Carrier A has the highest average shipping cost, while `Carrier B` is the most cost-efficient carrier. Renegotiating rates or shifting volume toward cheaper, reliable carriers could reduce logistics spend.</a:t>
            </a:r>
          </a:p>
          <a:p>
            <a:pPr marL="0" indent="0">
              <a:buNone/>
            </a:pPr>
            <a:r>
              <a:rPr lang="en-US" dirty="0">
                <a:latin typeface="Times New Roman" panose="02020603050405020304" pitchFamily="18" charset="0"/>
                <a:cs typeface="Times New Roman" panose="02020603050405020304" pitchFamily="18" charset="0"/>
              </a:rPr>
              <a:t>4. Transportation mode cost impact :Road contributes the largest share of total logistics costs, suggesting a review of route/mode mix could unlock savings (e.g., shifting non-urgent shipments to cheaper modes).</a:t>
            </a:r>
          </a:p>
          <a:p>
            <a:pPr marL="0" indent="0">
              <a:buNone/>
            </a:pPr>
            <a:r>
              <a:rPr lang="en-US" dirty="0">
                <a:latin typeface="Times New Roman" panose="02020603050405020304" pitchFamily="18" charset="0"/>
                <a:cs typeface="Times New Roman" panose="02020603050405020304" pitchFamily="18" charset="0"/>
              </a:rPr>
              <a:t>5. Quality / defect risk :The average defect rate across all SKUs is around 2.3%, and roughly 36% of inspected batches failed quality inspection. Suppliers/SKUs with high defect rates should be flagged for quality audits</a:t>
            </a:r>
          </a:p>
          <a:p>
            <a:pPr marL="0" indent="0">
              <a:buNone/>
            </a:pPr>
            <a:r>
              <a:rPr lang="en-US" dirty="0">
                <a:latin typeface="Times New Roman" panose="02020603050405020304" pitchFamily="18" charset="0"/>
                <a:cs typeface="Times New Roman" panose="02020603050405020304" pitchFamily="18" charset="0"/>
              </a:rPr>
              <a:t>6. Revenue vs. sales volume relationship: Revenue does not scale purely linearly with units sold across product types, implying pricing strategy differences materially affect revenue outcomes.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40318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DE697-EB9B-2464-0B7C-969D8DF245B8}"/>
              </a:ext>
            </a:extLst>
          </p:cNvPr>
          <p:cNvSpPr>
            <a:spLocks noGrp="1"/>
          </p:cNvSpPr>
          <p:nvPr>
            <p:ph type="title"/>
          </p:nvPr>
        </p:nvSpPr>
        <p:spPr>
          <a:xfrm>
            <a:off x="646111" y="717755"/>
            <a:ext cx="9404723" cy="865239"/>
          </a:xfrm>
        </p:spPr>
        <p:txBody>
          <a:bodyPr/>
          <a:lstStyle/>
          <a:p>
            <a:pPr algn="ctr"/>
            <a:r>
              <a:rPr lang="en-IN" sz="3000" dirty="0">
                <a:latin typeface="Times New Roman" panose="02020603050405020304" pitchFamily="18" charset="0"/>
                <a:cs typeface="Times New Roman" panose="02020603050405020304" pitchFamily="18" charset="0"/>
              </a:rPr>
              <a:t>  Business Recommendations</a:t>
            </a:r>
          </a:p>
        </p:txBody>
      </p:sp>
      <p:sp>
        <p:nvSpPr>
          <p:cNvPr id="3" name="Content Placeholder 2">
            <a:extLst>
              <a:ext uri="{FF2B5EF4-FFF2-40B4-BE49-F238E27FC236}">
                <a16:creationId xmlns:a16="http://schemas.microsoft.com/office/drawing/2014/main" id="{31E308DB-C43C-ECC5-2ED5-AC564AA67A01}"/>
              </a:ext>
            </a:extLst>
          </p:cNvPr>
          <p:cNvSpPr>
            <a:spLocks noGrp="1"/>
          </p:cNvSpPr>
          <p:nvPr>
            <p:ph idx="1"/>
          </p:nvPr>
        </p:nvSpPr>
        <p:spPr>
          <a:xfrm>
            <a:off x="540774" y="1582994"/>
            <a:ext cx="10677832" cy="4665405"/>
          </a:xfrm>
        </p:spPr>
        <p:txBody>
          <a:bodyPr>
            <a:normAutofit/>
          </a:bodyPr>
          <a:lstStyle/>
          <a:p>
            <a:r>
              <a:rPr lang="en-US" dirty="0">
                <a:latin typeface="Times New Roman" panose="02020603050405020304" pitchFamily="18" charset="0"/>
                <a:cs typeface="Times New Roman" panose="02020603050405020304" pitchFamily="18" charset="0"/>
              </a:rPr>
              <a:t>R1. Reallocate marketing and inventory investment toward the strongest revenue-generating category (skincare), while investigating and improving underperformance in cosmetics.</a:t>
            </a:r>
          </a:p>
          <a:p>
            <a:r>
              <a:rPr lang="en-US" dirty="0">
                <a:latin typeface="Times New Roman" panose="02020603050405020304" pitchFamily="18" charset="0"/>
                <a:cs typeface="Times New Roman" panose="02020603050405020304" pitchFamily="18" charset="0"/>
              </a:rPr>
              <a:t>R2. Consolidate shipments with lower-cost, high-performing carriers (e.g., Carrier B) and renegotiate contracts with higher-cost carriers such as Carrier A to reduce overall shipping expenditure.</a:t>
            </a:r>
          </a:p>
          <a:p>
            <a:r>
              <a:rPr lang="en-US" dirty="0">
                <a:latin typeface="Times New Roman" panose="02020603050405020304" pitchFamily="18" charset="0"/>
                <a:cs typeface="Times New Roman" panose="02020603050405020304" pitchFamily="18" charset="0"/>
              </a:rPr>
              <a:t>R3. Implement stricter supplier quality controls / audits for SKUs and suppliers with above-average defect rates to reduce failed inspections and associated rework/returns costs.- </a:t>
            </a:r>
          </a:p>
          <a:p>
            <a:r>
              <a:rPr lang="en-US" dirty="0">
                <a:latin typeface="Times New Roman" panose="02020603050405020304" pitchFamily="18" charset="0"/>
                <a:cs typeface="Times New Roman" panose="02020603050405020304" pitchFamily="18" charset="0"/>
              </a:rPr>
              <a:t>R4. Optimize the transportation mode mix — shift a portion of volume currently on Road to lower-cost alternatives where delivery-time requirements allow, to reduce total logistics costs without harming service levels.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32336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D45B0-8526-F0D5-E936-33D3121F2C6C}"/>
              </a:ext>
            </a:extLst>
          </p:cNvPr>
          <p:cNvSpPr>
            <a:spLocks noGrp="1"/>
          </p:cNvSpPr>
          <p:nvPr>
            <p:ph type="title"/>
          </p:nvPr>
        </p:nvSpPr>
        <p:spPr>
          <a:xfrm>
            <a:off x="646111" y="963560"/>
            <a:ext cx="9404723" cy="889687"/>
          </a:xfrm>
        </p:spPr>
        <p:txBody>
          <a:bodyPr>
            <a:normAutofit/>
          </a:bodyPr>
          <a:lstStyle/>
          <a:p>
            <a:pPr algn="ctr"/>
            <a:r>
              <a:rPr lang="en-IN" sz="3000" dirty="0">
                <a:latin typeface="Times New Roman" panose="02020603050405020304" pitchFamily="18" charset="0"/>
                <a:cs typeface="Times New Roman" panose="02020603050405020304" pitchFamily="18" charset="0"/>
              </a:rPr>
              <a:t>Future Scope </a:t>
            </a:r>
          </a:p>
        </p:txBody>
      </p:sp>
      <p:sp>
        <p:nvSpPr>
          <p:cNvPr id="3" name="Content Placeholder 2">
            <a:extLst>
              <a:ext uri="{FF2B5EF4-FFF2-40B4-BE49-F238E27FC236}">
                <a16:creationId xmlns:a16="http://schemas.microsoft.com/office/drawing/2014/main" id="{0B67E5E4-11C9-6E09-7CA5-7956188CE3DF}"/>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IoT Real Time Integration : Integrate with a shipping carriers' GPS data, as well as with their telemetry data for real-time route optimization and delivery visibility.</a:t>
            </a:r>
          </a:p>
          <a:p>
            <a:r>
              <a:rPr lang="en-US" sz="2000" dirty="0">
                <a:latin typeface="Times New Roman" panose="02020603050405020304" pitchFamily="18" charset="0"/>
                <a:cs typeface="Times New Roman" panose="02020603050405020304" pitchFamily="18" charset="0"/>
              </a:rPr>
              <a:t>Automatic Demand Forecasting : Utilize sophisticated time-series modeling techniques (ARIMA, Prophet, LSTM etc.), and customer demographic data to predict sales velocity.</a:t>
            </a:r>
          </a:p>
          <a:p>
            <a:r>
              <a:rPr lang="en-US" sz="2000" dirty="0">
                <a:latin typeface="Times New Roman" panose="02020603050405020304" pitchFamily="18" charset="0"/>
                <a:cs typeface="Times New Roman" panose="02020603050405020304" pitchFamily="18" charset="0"/>
              </a:rPr>
              <a:t>Prescriptive Replenishment Planning : Proactively determine reorder points and auto generate purchase orders based on real-time stock levels, and vendor lead-times.</a:t>
            </a:r>
          </a:p>
          <a:p>
            <a:r>
              <a:rPr lang="en-US" sz="2000" dirty="0">
                <a:latin typeface="Times New Roman" panose="02020603050405020304" pitchFamily="18" charset="0"/>
                <a:cs typeface="Times New Roman" panose="02020603050405020304" pitchFamily="18" charset="0"/>
              </a:rPr>
              <a:t>Sustainability and carbon footprint tracking : Measure and track emissions per mile for each transit mode and route, as a contribution to the green supply chain.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22688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0BC2-CA34-2FEA-C541-FD0DB3B08138}"/>
              </a:ext>
            </a:extLst>
          </p:cNvPr>
          <p:cNvSpPr>
            <a:spLocks noGrp="1"/>
          </p:cNvSpPr>
          <p:nvPr>
            <p:ph type="title"/>
          </p:nvPr>
        </p:nvSpPr>
        <p:spPr>
          <a:xfrm>
            <a:off x="646111" y="1052052"/>
            <a:ext cx="9404723" cy="801196"/>
          </a:xfrm>
        </p:spPr>
        <p:txBody>
          <a:bodyPr>
            <a:normAutofit/>
          </a:bodyPr>
          <a:lstStyle/>
          <a:p>
            <a:pPr algn="ctr"/>
            <a:r>
              <a:rPr lang="en-IN" sz="30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B6F153D-8247-E0F5-7361-1A6E95815AAC}"/>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By uniting product economics, inventory logistics, manufacturing parameters, and quality metrics into a single analytical model, this project addresses the fundamental inefficiencies of fragmented supply chain management. The unified framework empowers data-driven decision-making, significantly reduces lead times and defect rates, minimizes logistics and manufacturing costs, and builds a resilient, customer-centric supply ecosystem.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5906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DC0CF-2ED9-23BD-B63F-4F8FAE86010A}"/>
              </a:ext>
            </a:extLst>
          </p:cNvPr>
          <p:cNvSpPr>
            <a:spLocks noGrp="1"/>
          </p:cNvSpPr>
          <p:nvPr>
            <p:ph idx="1"/>
          </p:nvPr>
        </p:nvSpPr>
        <p:spPr/>
        <p:txBody>
          <a:bodyPr/>
          <a:lstStyle/>
          <a:p>
            <a:pPr marL="0" indent="0">
              <a:buNone/>
            </a:pPr>
            <a:r>
              <a:rPr lang="en-IN" dirty="0"/>
              <a:t>                                                   </a:t>
            </a:r>
            <a:r>
              <a:rPr lang="en-IN" sz="3000"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3090135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105</TotalTime>
  <Words>1416</Words>
  <Application>Microsoft Office PowerPoint</Application>
  <PresentationFormat>Widescreen</PresentationFormat>
  <Paragraphs>76</Paragraphs>
  <Slides>55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Century Gothic</vt:lpstr>
      <vt:lpstr>Times New Roman</vt:lpstr>
      <vt:lpstr>Wingdings 3</vt:lpstr>
      <vt:lpstr>Ion</vt:lpstr>
      <vt:lpstr>Supply Chain Analysis</vt:lpstr>
      <vt:lpstr>Problem Statement of Supply Chain Analysis</vt:lpstr>
      <vt:lpstr>Project Description of Supply Chain Analysis</vt:lpstr>
      <vt:lpstr>End users of this Project</vt:lpstr>
      <vt:lpstr>Technologies Used In this Project </vt:lpstr>
      <vt:lpstr>                            Data Cleaning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Exploratory Data Analysis (EDA)</vt:lpstr>
      <vt:lpstr>What is the Exploratory Data Analysis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Explanation of our findings</vt:lpstr>
      <vt:lpstr>  Data Virtualization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 BI</vt:lpstr>
      <vt:lpstr>What is Power BI ?</vt:lpstr>
      <vt:lpstr>PowerPoint Presentation</vt:lpstr>
      <vt:lpstr>                          Table View</vt:lpstr>
      <vt:lpstr>                        Model View</vt:lpstr>
      <vt:lpstr> DAX View </vt:lpstr>
      <vt:lpstr>PowerPoint Presentation</vt:lpstr>
      <vt:lpstr>PowerPoint Presentation</vt:lpstr>
      <vt:lpstr>PowerPoint Presentation</vt:lpstr>
      <vt:lpstr>Business Insights and Recommendations</vt:lpstr>
      <vt:lpstr>PowerPoint Presentation</vt:lpstr>
      <vt:lpstr>                       Business Insights </vt:lpstr>
      <vt:lpstr>  Business Recommendations</vt:lpstr>
      <vt:lpstr>Future Scope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Mohan B</dc:creator>
  <cp:lastModifiedBy>Krishna Mohan B</cp:lastModifiedBy>
  <cp:revision>3</cp:revision>
  <dcterms:created xsi:type="dcterms:W3CDTF">2026-08-31T10:47:47Z</dcterms:created>
  <dcterms:modified xsi:type="dcterms:W3CDTF">2026-09-08T11:43:22Z</dcterms:modified>
</cp:coreProperties>
</file>